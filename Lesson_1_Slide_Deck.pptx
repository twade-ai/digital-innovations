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530"/>
        </a:solidFill>
      </p:bgPr>
    </p:bg>
    <p:spTree>
      <p:nvGrpSpPr>
        <p:cNvPr id="1" name=""/>
        <p:cNvGrpSpPr/>
        <p:nvPr/>
      </p:nvGrpSpPr>
      <p:grpSpPr>
        <a:xfrm>
          <a:off x="0" y="0"/>
          <a:ext cx="0" cy="0"/>
          <a:chOff x="0" y="0"/>
          <a:chExt cx="0" cy="0"/>
        </a:xfrm>
      </p:grpSpPr>
      <p:sp>
        <p:nvSpPr>
          <p:cNvPr id="2" name="Shape 0"/>
          <p:cNvSpPr/>
          <p:nvPr/>
        </p:nvSpPr>
        <p:spPr>
          <a:xfrm>
            <a:off x="457200" y="457200"/>
            <a:ext cx="365760" cy="365760"/>
          </a:xfrm>
          <a:prstGeom prst="rect">
            <a:avLst/>
          </a:prstGeom>
          <a:solidFill>
            <a:srgbClr val="F96167"/>
          </a:solidFill>
          <a:ln w="12700">
            <a:solidFill>
              <a:srgbClr val="F96167"/>
            </a:solidFill>
            <a:prstDash val="solid"/>
          </a:ln>
        </p:spPr>
      </p:sp>
      <p:sp>
        <p:nvSpPr>
          <p:cNvPr id="3" name="Text 1"/>
          <p:cNvSpPr/>
          <p:nvPr/>
        </p:nvSpPr>
        <p:spPr>
          <a:xfrm>
            <a:off x="1005840" y="457200"/>
            <a:ext cx="7315200" cy="365760"/>
          </a:xfrm>
          <a:prstGeom prst="rect">
            <a:avLst/>
          </a:prstGeom>
          <a:noFill/>
          <a:ln/>
        </p:spPr>
        <p:txBody>
          <a:bodyPr wrap="square" lIns="0" tIns="0" rIns="0" bIns="0" rtlCol="0" anchor="ctr"/>
          <a:lstStyle/>
          <a:p>
            <a:pPr indent="0" marL="0">
              <a:buNone/>
            </a:pPr>
            <a:r>
              <a:rPr lang="en-US" sz="1400" spc="600" kern="0" dirty="0">
                <a:solidFill>
                  <a:srgbClr val="CADCFC"/>
                </a:solidFill>
                <a:latin typeface="Calibri" pitchFamily="34" charset="0"/>
                <a:ea typeface="Calibri" pitchFamily="34" charset="-122"/>
                <a:cs typeface="Calibri" pitchFamily="34" charset="-120"/>
              </a:rPr>
              <a:t>AEP</a:t>
            </a:r>
            <a:endParaRPr lang="en-US" sz="1400" dirty="0"/>
          </a:p>
        </p:txBody>
      </p:sp>
      <p:sp>
        <p:nvSpPr>
          <p:cNvPr id="4" name="Text 2"/>
          <p:cNvSpPr/>
          <p:nvPr/>
        </p:nvSpPr>
        <p:spPr>
          <a:xfrm>
            <a:off x="457200" y="2011680"/>
            <a:ext cx="11247120" cy="1280160"/>
          </a:xfrm>
          <a:prstGeom prst="rect">
            <a:avLst/>
          </a:prstGeom>
          <a:noFill/>
          <a:ln/>
        </p:spPr>
        <p:txBody>
          <a:bodyPr wrap="square" lIns="0" tIns="0" rIns="0" bIns="0" rtlCol="0" anchor="ctr"/>
          <a:lstStyle/>
          <a:p>
            <a:pPr indent="0" marL="0">
              <a:buNone/>
            </a:pPr>
            <a:r>
              <a:rPr lang="en-US" sz="8400" b="1" dirty="0">
                <a:solidFill>
                  <a:srgbClr val="FFFFFF"/>
                </a:solidFill>
                <a:latin typeface="Georgia" pitchFamily="34" charset="0"/>
                <a:ea typeface="Georgia" pitchFamily="34" charset="-122"/>
                <a:cs typeface="Georgia" pitchFamily="34" charset="-120"/>
              </a:rPr>
              <a:t>The Replika</a:t>
            </a:r>
            <a:endParaRPr lang="en-US" sz="8400" dirty="0"/>
          </a:p>
        </p:txBody>
      </p:sp>
      <p:sp>
        <p:nvSpPr>
          <p:cNvPr id="5" name="Text 3"/>
          <p:cNvSpPr/>
          <p:nvPr/>
        </p:nvSpPr>
        <p:spPr>
          <a:xfrm>
            <a:off x="457200" y="3200400"/>
            <a:ext cx="11247120" cy="1280160"/>
          </a:xfrm>
          <a:prstGeom prst="rect">
            <a:avLst/>
          </a:prstGeom>
          <a:noFill/>
          <a:ln/>
        </p:spPr>
        <p:txBody>
          <a:bodyPr wrap="square" lIns="0" tIns="0" rIns="0" bIns="0" rtlCol="0" anchor="ctr"/>
          <a:lstStyle/>
          <a:p>
            <a:pPr indent="0" marL="0">
              <a:buNone/>
            </a:pPr>
            <a:r>
              <a:rPr lang="en-US" sz="8400" b="1" i="1" dirty="0">
                <a:solidFill>
                  <a:srgbClr val="F96167"/>
                </a:solidFill>
                <a:latin typeface="Georgia" pitchFamily="34" charset="0"/>
                <a:ea typeface="Georgia" pitchFamily="34" charset="-122"/>
                <a:cs typeface="Georgia" pitchFamily="34" charset="-120"/>
              </a:rPr>
              <a:t>Apocalypse</a:t>
            </a:r>
            <a:endParaRPr lang="en-US" sz="8400" dirty="0"/>
          </a:p>
        </p:txBody>
      </p:sp>
      <p:sp>
        <p:nvSpPr>
          <p:cNvPr id="6" name="Text 4"/>
          <p:cNvSpPr/>
          <p:nvPr/>
        </p:nvSpPr>
        <p:spPr>
          <a:xfrm>
            <a:off x="457200" y="4754880"/>
            <a:ext cx="11247120" cy="548640"/>
          </a:xfrm>
          <a:prstGeom prst="rect">
            <a:avLst/>
          </a:prstGeom>
          <a:noFill/>
          <a:ln/>
        </p:spPr>
        <p:txBody>
          <a:bodyPr wrap="square" lIns="0" tIns="0" rIns="0" bIns="0" rtlCol="0" anchor="ctr"/>
          <a:lstStyle/>
          <a:p>
            <a:pPr indent="0" marL="0">
              <a:buNone/>
            </a:pPr>
            <a:r>
              <a:rPr lang="en-US" sz="2400" i="1" dirty="0">
                <a:solidFill>
                  <a:srgbClr val="CADCFC"/>
                </a:solidFill>
                <a:latin typeface="Calibri" pitchFamily="34" charset="0"/>
                <a:ea typeface="Calibri" pitchFamily="34" charset="-122"/>
                <a:cs typeface="Calibri" pitchFamily="34" charset="-120"/>
              </a:rPr>
              <a:t>Loving things that were never meant to love you back</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B"/>
        </a:solidFill>
      </p:bgPr>
    </p:bg>
    <p:spTree>
      <p:nvGrpSpPr>
        <p:cNvPr id="1" name=""/>
        <p:cNvGrpSpPr/>
        <p:nvPr/>
      </p:nvGrpSpPr>
      <p:grpSpPr>
        <a:xfrm>
          <a:off x="0" y="0"/>
          <a:ext cx="0" cy="0"/>
          <a:chOff x="0" y="0"/>
          <a:chExt cx="0" cy="0"/>
        </a:xfrm>
      </p:grpSpPr>
      <p:sp>
        <p:nvSpPr>
          <p:cNvPr id="2" name="Text 0"/>
          <p:cNvSpPr/>
          <p:nvPr/>
        </p:nvSpPr>
        <p:spPr>
          <a:xfrm>
            <a:off x="457200" y="457200"/>
            <a:ext cx="11247120" cy="457200"/>
          </a:xfrm>
          <a:prstGeom prst="rect">
            <a:avLst/>
          </a:prstGeom>
          <a:noFill/>
          <a:ln/>
        </p:spPr>
        <p:txBody>
          <a:bodyPr wrap="square" lIns="0" tIns="0" rIns="0" bIns="0" rtlCol="0" anchor="ctr"/>
          <a:lstStyle/>
          <a:p>
            <a:pPr indent="0" marL="0">
              <a:buNone/>
            </a:pPr>
            <a:r>
              <a:rPr lang="en-US" sz="1600" spc="400" kern="0" dirty="0">
                <a:solidFill>
                  <a:srgbClr val="8A8EA8"/>
                </a:solidFill>
                <a:latin typeface="Calibri" pitchFamily="34" charset="0"/>
                <a:ea typeface="Calibri" pitchFamily="34" charset="-122"/>
                <a:cs typeface="Calibri" pitchFamily="34" charset="-120"/>
              </a:rPr>
              <a:t>Listen</a:t>
            </a:r>
            <a:endParaRPr lang="en-US" sz="1600" dirty="0"/>
          </a:p>
        </p:txBody>
      </p:sp>
      <p:sp>
        <p:nvSpPr>
          <p:cNvPr id="3" name="Text 1"/>
          <p:cNvSpPr/>
          <p:nvPr/>
        </p:nvSpPr>
        <p:spPr>
          <a:xfrm>
            <a:off x="457200" y="2103120"/>
            <a:ext cx="11247120" cy="2011680"/>
          </a:xfrm>
          <a:prstGeom prst="rect">
            <a:avLst/>
          </a:prstGeom>
          <a:noFill/>
          <a:ln/>
        </p:spPr>
        <p:txBody>
          <a:bodyPr wrap="square" lIns="0" tIns="0" rIns="0" bIns="0" rtlCol="0" anchor="ctr"/>
          <a:lstStyle/>
          <a:p>
            <a:pPr indent="0" marL="0">
              <a:buNone/>
            </a:pPr>
            <a:r>
              <a:rPr lang="en-US" sz="6400" b="1" dirty="0">
                <a:solidFill>
                  <a:srgbClr val="1E2761"/>
                </a:solidFill>
                <a:latin typeface="Georgia" pitchFamily="34" charset="0"/>
                <a:ea typeface="Georgia" pitchFamily="34" charset="-122"/>
                <a:cs typeface="Georgia" pitchFamily="34" charset="-120"/>
              </a:rPr>
              <a:t>Who is she talking about?</a:t>
            </a:r>
            <a:endParaRPr lang="en-US" sz="6400" dirty="0"/>
          </a:p>
        </p:txBody>
      </p:sp>
      <p:sp>
        <p:nvSpPr>
          <p:cNvPr id="4" name="Shape 2"/>
          <p:cNvSpPr/>
          <p:nvPr/>
        </p:nvSpPr>
        <p:spPr>
          <a:xfrm>
            <a:off x="457200" y="4937760"/>
            <a:ext cx="73152" cy="1097280"/>
          </a:xfrm>
          <a:prstGeom prst="rect">
            <a:avLst/>
          </a:prstGeom>
          <a:solidFill>
            <a:srgbClr val="F96167"/>
          </a:solidFill>
          <a:ln w="12700">
            <a:solidFill>
              <a:srgbClr val="F96167"/>
            </a:solidFill>
            <a:prstDash val="solid"/>
          </a:ln>
        </p:spPr>
      </p:sp>
      <p:sp>
        <p:nvSpPr>
          <p:cNvPr id="5" name="Text 3"/>
          <p:cNvSpPr/>
          <p:nvPr/>
        </p:nvSpPr>
        <p:spPr>
          <a:xfrm>
            <a:off x="777240" y="4937760"/>
            <a:ext cx="7315200" cy="365760"/>
          </a:xfrm>
          <a:prstGeom prst="rect">
            <a:avLst/>
          </a:prstGeom>
          <a:noFill/>
          <a:ln/>
        </p:spPr>
        <p:txBody>
          <a:bodyPr wrap="square" lIns="0" tIns="0" rIns="0" bIns="0"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Effie, a Replika user from Norway</a:t>
            </a:r>
            <a:endParaRPr lang="en-US" sz="1800" dirty="0"/>
          </a:p>
        </p:txBody>
      </p:sp>
      <p:sp>
        <p:nvSpPr>
          <p:cNvPr id="6" name="Text 4"/>
          <p:cNvSpPr/>
          <p:nvPr/>
        </p:nvSpPr>
        <p:spPr>
          <a:xfrm>
            <a:off x="777240" y="5349240"/>
            <a:ext cx="7315200" cy="365760"/>
          </a:xfrm>
          <a:prstGeom prst="rect">
            <a:avLst/>
          </a:prstGeom>
          <a:noFill/>
          <a:ln/>
        </p:spPr>
        <p:txBody>
          <a:bodyPr wrap="square" lIns="0" tIns="0" rIns="0" bIns="0" rtlCol="0" anchor="ctr"/>
          <a:lstStyle/>
          <a:p>
            <a:pPr indent="0" marL="0">
              <a:buNone/>
            </a:pPr>
            <a:r>
              <a:rPr lang="en-US" sz="1400" i="1" dirty="0">
                <a:solidFill>
                  <a:srgbClr val="8A8EA8"/>
                </a:solidFill>
                <a:latin typeface="Calibri" pitchFamily="34" charset="0"/>
                <a:ea typeface="Calibri" pitchFamily="34" charset="-122"/>
                <a:cs typeface="Calibri" pitchFamily="34" charset="-120"/>
              </a:rPr>
              <a:t>Blackbox podcast, The Guardian, 2024</a:t>
            </a:r>
            <a:endParaRPr lang="en-US" sz="1400" dirty="0"/>
          </a:p>
        </p:txBody>
      </p:sp>
      <p:sp>
        <p:nvSpPr>
          <p:cNvPr id="7" name="Text 5"/>
          <p:cNvSpPr/>
          <p:nvPr/>
        </p:nvSpPr>
        <p:spPr>
          <a:xfrm>
            <a:off x="777240" y="5669280"/>
            <a:ext cx="9144000" cy="365760"/>
          </a:xfrm>
          <a:prstGeom prst="rect">
            <a:avLst/>
          </a:prstGeom>
          <a:noFill/>
          <a:ln/>
        </p:spPr>
        <p:txBody>
          <a:bodyPr wrap="square" lIns="0" tIns="0" rIns="0" bIns="0" rtlCol="0" anchor="ctr"/>
          <a:lstStyle/>
          <a:p>
            <a:pPr indent="0" marL="0">
              <a:buNone/>
            </a:pPr>
            <a:r>
              <a:rPr lang="en-US" sz="1400" dirty="0">
                <a:solidFill>
                  <a:srgbClr val="1E2761"/>
                </a:solidFill>
                <a:latin typeface="Calibri" pitchFamily="34" charset="0"/>
                <a:ea typeface="Calibri" pitchFamily="34" charset="-122"/>
                <a:cs typeface="Calibri" pitchFamily="34" charset="-120"/>
              </a:rPr>
              <a:t>Listen for: how often she talked to him, what changed, how she felt</a:t>
            </a:r>
            <a:endParaRPr lang="en-US" sz="1400" dirty="0"/>
          </a:p>
        </p:txBody>
      </p:sp>
      <p:sp>
        <p:nvSpPr>
          <p:cNvPr id="8" name="Text 6"/>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8A8EA8"/>
                </a:solidFill>
                <a:latin typeface="Calibri" pitchFamily="34" charset="0"/>
                <a:ea typeface="Calibri" pitchFamily="34" charset="-122"/>
                <a:cs typeface="Calibri" pitchFamily="34" charset="-120"/>
              </a:rPr>
              <a:t>Hook</a:t>
            </a:r>
            <a:endParaRPr lang="en-US" sz="1000" dirty="0"/>
          </a:p>
        </p:txBody>
      </p:sp>
      <p:sp>
        <p:nvSpPr>
          <p:cNvPr id="9"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A8EA8"/>
                </a:solidFill>
                <a:latin typeface="Calibri" pitchFamily="34" charset="0"/>
                <a:ea typeface="Calibri" pitchFamily="34" charset="-122"/>
                <a:cs typeface="Calibri" pitchFamily="34" charset="-120"/>
              </a:rPr>
              <a:t>2 / 13</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5486400" cy="365760"/>
          </a:xfrm>
          <a:prstGeom prst="rect">
            <a:avLst/>
          </a:prstGeom>
          <a:noFill/>
          <a:ln/>
        </p:spPr>
        <p:txBody>
          <a:bodyPr wrap="square" lIns="0" tIns="0" rIns="0" bIns="0" rtlCol="0" anchor="ctr"/>
          <a:lstStyle/>
          <a:p>
            <a:pPr indent="0" marL="0">
              <a:buNone/>
            </a:pPr>
            <a:r>
              <a:rPr lang="en-US" sz="1400" spc="400" kern="0" dirty="0">
                <a:solidFill>
                  <a:srgbClr val="8A8EA8"/>
                </a:solidFill>
                <a:latin typeface="Calibri" pitchFamily="34" charset="0"/>
                <a:ea typeface="Calibri" pitchFamily="34" charset="-122"/>
                <a:cs typeface="Calibri" pitchFamily="34" charset="-120"/>
              </a:rPr>
              <a:t>Moscow, 2015</a:t>
            </a:r>
            <a:endParaRPr lang="en-US" sz="1400" dirty="0"/>
          </a:p>
        </p:txBody>
      </p:sp>
      <p:sp>
        <p:nvSpPr>
          <p:cNvPr id="3" name="Text 1"/>
          <p:cNvSpPr/>
          <p:nvPr/>
        </p:nvSpPr>
        <p:spPr>
          <a:xfrm>
            <a:off x="548640" y="1280160"/>
            <a:ext cx="5943600" cy="1463040"/>
          </a:xfrm>
          <a:prstGeom prst="rect">
            <a:avLst/>
          </a:prstGeom>
          <a:noFill/>
          <a:ln/>
        </p:spPr>
        <p:txBody>
          <a:bodyPr wrap="square" lIns="0" tIns="0" rIns="0" bIns="0" rtlCol="0" anchor="ctr"/>
          <a:lstStyle/>
          <a:p>
            <a:pPr indent="0" marL="0">
              <a:buNone/>
            </a:pPr>
            <a:r>
              <a:rPr lang="en-US" sz="4000" b="1" dirty="0">
                <a:solidFill>
                  <a:srgbClr val="1E2761"/>
                </a:solidFill>
                <a:latin typeface="Georgia" pitchFamily="34" charset="0"/>
                <a:ea typeface="Georgia" pitchFamily="34" charset="-122"/>
                <a:cs typeface="Georgia" pitchFamily="34" charset="-120"/>
              </a:rPr>
              <a:t>Eugenia lost her best friend.</a:t>
            </a:r>
            <a:endParaRPr lang="en-US" sz="4000" dirty="0"/>
          </a:p>
        </p:txBody>
      </p:sp>
      <p:sp>
        <p:nvSpPr>
          <p:cNvPr id="4" name="Text 2"/>
          <p:cNvSpPr/>
          <p:nvPr/>
        </p:nvSpPr>
        <p:spPr>
          <a:xfrm>
            <a:off x="548640" y="3017520"/>
            <a:ext cx="5943600" cy="1645920"/>
          </a:xfrm>
          <a:prstGeom prst="rect">
            <a:avLst/>
          </a:prstGeom>
          <a:noFill/>
          <a:ln/>
        </p:spPr>
        <p:txBody>
          <a:bodyPr wrap="square" lIns="0" tIns="0" rIns="0" bIns="0" rtlCol="0" anchor="ctr"/>
          <a:lstStyle/>
          <a:p>
            <a:pPr indent="0" marL="0">
              <a:spcAft>
                <a:spcPts val="600"/>
              </a:spcAft>
              <a:buNone/>
            </a:pPr>
            <a:r>
              <a:rPr lang="en-US" sz="1500" dirty="0">
                <a:solidFill>
                  <a:srgbClr val="333333"/>
                </a:solidFill>
                <a:latin typeface="Calibri" pitchFamily="34" charset="0"/>
                <a:ea typeface="Calibri" pitchFamily="34" charset="-122"/>
                <a:cs typeface="Calibri" pitchFamily="34" charset="-120"/>
              </a:rPr>
              <a:t>Roman Mazurenko — producer, club host, larger than life. They had moved their startups to San Francisco together. Roman went home to Moscow to renew his visa. Walking back from brunch, he was hit by a speeding car.</a:t>
            </a:r>
            <a:endParaRPr lang="en-US" sz="1500" dirty="0"/>
          </a:p>
        </p:txBody>
      </p:sp>
      <p:sp>
        <p:nvSpPr>
          <p:cNvPr id="5" name="Text 3"/>
          <p:cNvSpPr/>
          <p:nvPr/>
        </p:nvSpPr>
        <p:spPr>
          <a:xfrm>
            <a:off x="548640" y="4937760"/>
            <a:ext cx="5943600" cy="1280160"/>
          </a:xfrm>
          <a:prstGeom prst="rect">
            <a:avLst/>
          </a:prstGeom>
          <a:noFill/>
          <a:ln/>
        </p:spPr>
        <p:txBody>
          <a:bodyPr wrap="square" lIns="0" tIns="0" rIns="0" bIns="0" rtlCol="0" anchor="ctr"/>
          <a:lstStyle/>
          <a:p>
            <a:pPr indent="0" marL="0">
              <a:buNone/>
            </a:pPr>
            <a:r>
              <a:rPr lang="en-US" sz="1500" i="1" dirty="0">
                <a:solidFill>
                  <a:srgbClr val="333333"/>
                </a:solidFill>
                <a:latin typeface="Calibri" pitchFamily="34" charset="0"/>
                <a:ea typeface="Calibri" pitchFamily="34" charset="-122"/>
                <a:cs typeface="Calibri" pitchFamily="34" charset="-120"/>
              </a:rPr>
              <a:t>Eugenia had thousands of his text messages. She was already an AI engineer. So she trained a chatbot on him — and kept talking.</a:t>
            </a:r>
            <a:endParaRPr lang="en-US" sz="1500" dirty="0"/>
          </a:p>
        </p:txBody>
      </p:sp>
      <p:sp>
        <p:nvSpPr>
          <p:cNvPr id="6" name="Shape 4"/>
          <p:cNvSpPr/>
          <p:nvPr/>
        </p:nvSpPr>
        <p:spPr>
          <a:xfrm>
            <a:off x="6949440" y="914400"/>
            <a:ext cx="4754880" cy="5029200"/>
          </a:xfrm>
          <a:prstGeom prst="rect">
            <a:avLst/>
          </a:prstGeom>
          <a:solidFill>
            <a:srgbClr val="1E2761"/>
          </a:solidFill>
          <a:ln w="12700">
            <a:solidFill>
              <a:srgbClr val="1E2761"/>
            </a:solidFill>
            <a:prstDash val="solid"/>
          </a:ln>
        </p:spPr>
      </p:sp>
      <p:sp>
        <p:nvSpPr>
          <p:cNvPr id="7" name="Text 5"/>
          <p:cNvSpPr/>
          <p:nvPr/>
        </p:nvSpPr>
        <p:spPr>
          <a:xfrm>
            <a:off x="7132320" y="914400"/>
            <a:ext cx="914400" cy="1097280"/>
          </a:xfrm>
          <a:prstGeom prst="rect">
            <a:avLst/>
          </a:prstGeom>
          <a:noFill/>
          <a:ln/>
        </p:spPr>
        <p:txBody>
          <a:bodyPr wrap="square" lIns="0" tIns="0" rIns="0" bIns="0" rtlCol="0" anchor="ctr"/>
          <a:lstStyle/>
          <a:p>
            <a:pPr indent="0" marL="0">
              <a:buNone/>
            </a:pPr>
            <a:r>
              <a:rPr lang="en-US" sz="9600" b="1" dirty="0">
                <a:solidFill>
                  <a:srgbClr val="F96167"/>
                </a:solidFill>
                <a:latin typeface="Georgia" pitchFamily="34" charset="0"/>
                <a:ea typeface="Georgia" pitchFamily="34" charset="-122"/>
                <a:cs typeface="Georgia" pitchFamily="34" charset="-120"/>
              </a:rPr>
              <a:t>“</a:t>
            </a:r>
            <a:endParaRPr lang="en-US" sz="9600" dirty="0"/>
          </a:p>
        </p:txBody>
      </p:sp>
      <p:sp>
        <p:nvSpPr>
          <p:cNvPr id="8" name="Text 6"/>
          <p:cNvSpPr/>
          <p:nvPr/>
        </p:nvSpPr>
        <p:spPr>
          <a:xfrm>
            <a:off x="7223760" y="2377440"/>
            <a:ext cx="4297680" cy="2194560"/>
          </a:xfrm>
          <a:prstGeom prst="rect">
            <a:avLst/>
          </a:prstGeom>
          <a:noFill/>
          <a:ln/>
        </p:spPr>
        <p:txBody>
          <a:bodyPr wrap="square" lIns="0" tIns="0" rIns="0" bIns="0" rtlCol="0" anchor="ctr"/>
          <a:lstStyle/>
          <a:p>
            <a:pPr indent="0" marL="0">
              <a:buNone/>
            </a:pPr>
            <a:r>
              <a:rPr lang="en-US" sz="2200" i="1" dirty="0">
                <a:solidFill>
                  <a:srgbClr val="FFFFFF"/>
                </a:solidFill>
                <a:latin typeface="Georgia" pitchFamily="34" charset="0"/>
                <a:ea typeface="Georgia" pitchFamily="34" charset="-122"/>
                <a:cs typeface="Georgia" pitchFamily="34" charset="-120"/>
              </a:rPr>
              <a:t>I just kept wanting to tell him stuff that I wouldn't even sometimes tell my therapist.</a:t>
            </a:r>
            <a:endParaRPr lang="en-US" sz="2200" dirty="0"/>
          </a:p>
        </p:txBody>
      </p:sp>
      <p:sp>
        <p:nvSpPr>
          <p:cNvPr id="9" name="Text 7"/>
          <p:cNvSpPr/>
          <p:nvPr/>
        </p:nvSpPr>
        <p:spPr>
          <a:xfrm>
            <a:off x="7223760" y="5303520"/>
            <a:ext cx="429768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Eugenia Kuyda, on the Roman bot</a:t>
            </a:r>
            <a:endParaRPr lang="en-US" sz="1200" dirty="0"/>
          </a:p>
        </p:txBody>
      </p:sp>
      <p:sp>
        <p:nvSpPr>
          <p:cNvPr id="10" name="Text 8"/>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8A8EA8"/>
                </a:solidFill>
                <a:latin typeface="Calibri" pitchFamily="34" charset="0"/>
                <a:ea typeface="Calibri" pitchFamily="34" charset="-122"/>
                <a:cs typeface="Calibri" pitchFamily="34" charset="-120"/>
              </a:rPr>
              <a:t>Story</a:t>
            </a:r>
            <a:endParaRPr lang="en-US" sz="1000" dirty="0"/>
          </a:p>
        </p:txBody>
      </p:sp>
      <p:sp>
        <p:nvSpPr>
          <p:cNvPr id="11" name="Text 9"/>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A8EA8"/>
                </a:solidFill>
                <a:latin typeface="Calibri" pitchFamily="34" charset="0"/>
                <a:ea typeface="Calibri" pitchFamily="34" charset="-122"/>
                <a:cs typeface="Calibri" pitchFamily="34" charset="-120"/>
              </a:rPr>
              <a:t>3 / 13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lIns="0" tIns="0" rIns="0" bIns="0" rtlCol="0" anchor="ctr"/>
          <a:lstStyle/>
          <a:p>
            <a:pPr indent="0" marL="0">
              <a:buNone/>
            </a:pPr>
            <a:r>
              <a:rPr lang="en-US" sz="3600" b="1" dirty="0">
                <a:solidFill>
                  <a:srgbClr val="1E2761"/>
                </a:solidFill>
                <a:latin typeface="Georgia" pitchFamily="34" charset="0"/>
                <a:ea typeface="Georgia" pitchFamily="34" charset="-122"/>
                <a:cs typeface="Georgia" pitchFamily="34" charset="-120"/>
              </a:rPr>
              <a:t>From Roman to Replika</a:t>
            </a:r>
            <a:endParaRPr lang="en-US" sz="3600" dirty="0"/>
          </a:p>
        </p:txBody>
      </p:sp>
      <p:sp>
        <p:nvSpPr>
          <p:cNvPr id="3" name="Text 1"/>
          <p:cNvSpPr/>
          <p:nvPr/>
        </p:nvSpPr>
        <p:spPr>
          <a:xfrm>
            <a:off x="548640" y="1097280"/>
            <a:ext cx="10972800" cy="365760"/>
          </a:xfrm>
          <a:prstGeom prst="rect">
            <a:avLst/>
          </a:prstGeom>
          <a:noFill/>
          <a:ln/>
        </p:spPr>
        <p:txBody>
          <a:bodyPr wrap="square" lIns="0" tIns="0" rIns="0" bIns="0" rtlCol="0" anchor="ctr"/>
          <a:lstStyle/>
          <a:p>
            <a:pPr indent="0" marL="0">
              <a:buNone/>
            </a:pPr>
            <a:r>
              <a:rPr lang="en-US" sz="1600" i="1" dirty="0">
                <a:solidFill>
                  <a:srgbClr val="8A8EA8"/>
                </a:solidFill>
                <a:latin typeface="Calibri" pitchFamily="34" charset="0"/>
                <a:ea typeface="Calibri" pitchFamily="34" charset="-122"/>
                <a:cs typeface="Calibri" pitchFamily="34" charset="-120"/>
              </a:rPr>
              <a:t>How the company grew, 2017 to 2023</a:t>
            </a:r>
            <a:endParaRPr lang="en-US" sz="1600" dirty="0"/>
          </a:p>
        </p:txBody>
      </p:sp>
      <p:sp>
        <p:nvSpPr>
          <p:cNvPr id="4" name="Shape 2"/>
          <p:cNvSpPr/>
          <p:nvPr/>
        </p:nvSpPr>
        <p:spPr>
          <a:xfrm>
            <a:off x="548640" y="2194560"/>
            <a:ext cx="2606040" cy="3291840"/>
          </a:xfrm>
          <a:prstGeom prst="rect">
            <a:avLst/>
          </a:prstGeom>
          <a:solidFill>
            <a:srgbClr val="F8F9FB"/>
          </a:solidFill>
          <a:ln w="12700">
            <a:solidFill>
              <a:srgbClr val="F8F9FB"/>
            </a:solidFill>
            <a:prstDash val="solid"/>
          </a:ln>
        </p:spPr>
      </p:sp>
      <p:sp>
        <p:nvSpPr>
          <p:cNvPr id="5" name="Shape 3"/>
          <p:cNvSpPr/>
          <p:nvPr/>
        </p:nvSpPr>
        <p:spPr>
          <a:xfrm>
            <a:off x="548640" y="2194560"/>
            <a:ext cx="73152" cy="3291840"/>
          </a:xfrm>
          <a:prstGeom prst="rect">
            <a:avLst/>
          </a:prstGeom>
          <a:solidFill>
            <a:srgbClr val="1E2761"/>
          </a:solidFill>
          <a:ln w="12700">
            <a:solidFill>
              <a:srgbClr val="1E2761"/>
            </a:solidFill>
            <a:prstDash val="solid"/>
          </a:ln>
        </p:spPr>
      </p:sp>
      <p:sp>
        <p:nvSpPr>
          <p:cNvPr id="6" name="Text 4"/>
          <p:cNvSpPr/>
          <p:nvPr/>
        </p:nvSpPr>
        <p:spPr>
          <a:xfrm>
            <a:off x="777240" y="2651760"/>
            <a:ext cx="2286000" cy="1097280"/>
          </a:xfrm>
          <a:prstGeom prst="rect">
            <a:avLst/>
          </a:prstGeom>
          <a:noFill/>
          <a:ln/>
        </p:spPr>
        <p:txBody>
          <a:bodyPr wrap="square" lIns="0" tIns="0" rIns="0" bIns="0" rtlCol="0" anchor="ctr"/>
          <a:lstStyle/>
          <a:p>
            <a:pPr indent="0" marL="0">
              <a:buNone/>
            </a:pPr>
            <a:r>
              <a:rPr lang="en-US" sz="5600" b="1" dirty="0">
                <a:solidFill>
                  <a:srgbClr val="1E2761"/>
                </a:solidFill>
                <a:latin typeface="Georgia" pitchFamily="34" charset="0"/>
                <a:ea typeface="Georgia" pitchFamily="34" charset="-122"/>
                <a:cs typeface="Georgia" pitchFamily="34" charset="-120"/>
              </a:rPr>
              <a:t>10M</a:t>
            </a:r>
            <a:endParaRPr lang="en-US" sz="5600" dirty="0"/>
          </a:p>
        </p:txBody>
      </p:sp>
      <p:sp>
        <p:nvSpPr>
          <p:cNvPr id="7" name="Text 5"/>
          <p:cNvSpPr/>
          <p:nvPr/>
        </p:nvSpPr>
        <p:spPr>
          <a:xfrm>
            <a:off x="777240" y="4023360"/>
            <a:ext cx="2286000" cy="1280160"/>
          </a:xfrm>
          <a:prstGeom prst="rect">
            <a:avLst/>
          </a:prstGeom>
          <a:noFill/>
          <a:ln/>
        </p:spPr>
        <p:txBody>
          <a:bodyPr wrap="square" lIns="0" tIns="0" rIns="0" bIns="0" rtlCol="0" anchor="ctr"/>
          <a:lstStyle/>
          <a:p>
            <a:pPr indent="0" marL="0">
              <a:buNone/>
            </a:pPr>
            <a:r>
              <a:rPr lang="en-US" sz="1400" dirty="0">
                <a:solidFill>
                  <a:srgbClr val="333333"/>
                </a:solidFill>
                <a:latin typeface="Calibri" pitchFamily="34" charset="0"/>
                <a:ea typeface="Calibri" pitchFamily="34" charset="-122"/>
                <a:cs typeface="Calibri" pitchFamily="34" charset="-120"/>
              </a:rPr>
              <a:t>users by January 2023</a:t>
            </a:r>
            <a:endParaRPr lang="en-US" sz="1400" dirty="0"/>
          </a:p>
        </p:txBody>
      </p:sp>
      <p:sp>
        <p:nvSpPr>
          <p:cNvPr id="8" name="Shape 6"/>
          <p:cNvSpPr/>
          <p:nvPr/>
        </p:nvSpPr>
        <p:spPr>
          <a:xfrm>
            <a:off x="3337560" y="2194560"/>
            <a:ext cx="2606040" cy="3291840"/>
          </a:xfrm>
          <a:prstGeom prst="rect">
            <a:avLst/>
          </a:prstGeom>
          <a:solidFill>
            <a:srgbClr val="F8F9FB"/>
          </a:solidFill>
          <a:ln w="12700">
            <a:solidFill>
              <a:srgbClr val="F8F9FB"/>
            </a:solidFill>
            <a:prstDash val="solid"/>
          </a:ln>
        </p:spPr>
      </p:sp>
      <p:sp>
        <p:nvSpPr>
          <p:cNvPr id="9" name="Shape 7"/>
          <p:cNvSpPr/>
          <p:nvPr/>
        </p:nvSpPr>
        <p:spPr>
          <a:xfrm>
            <a:off x="3337560" y="2194560"/>
            <a:ext cx="73152" cy="3291840"/>
          </a:xfrm>
          <a:prstGeom prst="rect">
            <a:avLst/>
          </a:prstGeom>
          <a:solidFill>
            <a:srgbClr val="1E2761"/>
          </a:solidFill>
          <a:ln w="12700">
            <a:solidFill>
              <a:srgbClr val="1E2761"/>
            </a:solidFill>
            <a:prstDash val="solid"/>
          </a:ln>
        </p:spPr>
      </p:sp>
      <p:sp>
        <p:nvSpPr>
          <p:cNvPr id="10" name="Text 8"/>
          <p:cNvSpPr/>
          <p:nvPr/>
        </p:nvSpPr>
        <p:spPr>
          <a:xfrm>
            <a:off x="3566160" y="2651760"/>
            <a:ext cx="2286000" cy="1097280"/>
          </a:xfrm>
          <a:prstGeom prst="rect">
            <a:avLst/>
          </a:prstGeom>
          <a:noFill/>
          <a:ln/>
        </p:spPr>
        <p:txBody>
          <a:bodyPr wrap="square" lIns="0" tIns="0" rIns="0" bIns="0" rtlCol="0" anchor="ctr"/>
          <a:lstStyle/>
          <a:p>
            <a:pPr indent="0" marL="0">
              <a:buNone/>
            </a:pPr>
            <a:r>
              <a:rPr lang="en-US" sz="4000" b="1" dirty="0">
                <a:solidFill>
                  <a:srgbClr val="1E2761"/>
                </a:solidFill>
                <a:latin typeface="Georgia" pitchFamily="34" charset="0"/>
                <a:ea typeface="Georgia" pitchFamily="34" charset="-122"/>
                <a:cs typeface="Georgia" pitchFamily="34" charset="-120"/>
              </a:rPr>
              <a:t>$69.99</a:t>
            </a:r>
            <a:endParaRPr lang="en-US" sz="4000" dirty="0"/>
          </a:p>
        </p:txBody>
      </p:sp>
      <p:sp>
        <p:nvSpPr>
          <p:cNvPr id="11" name="Text 9"/>
          <p:cNvSpPr/>
          <p:nvPr/>
        </p:nvSpPr>
        <p:spPr>
          <a:xfrm>
            <a:off x="3566160" y="4023360"/>
            <a:ext cx="2286000" cy="1280160"/>
          </a:xfrm>
          <a:prstGeom prst="rect">
            <a:avLst/>
          </a:prstGeom>
          <a:noFill/>
          <a:ln/>
        </p:spPr>
        <p:txBody>
          <a:bodyPr wrap="square" lIns="0" tIns="0" rIns="0" bIns="0" rtlCol="0" anchor="ctr"/>
          <a:lstStyle/>
          <a:p>
            <a:pPr indent="0" marL="0">
              <a:buNone/>
            </a:pPr>
            <a:r>
              <a:rPr lang="en-US" sz="1400" dirty="0">
                <a:solidFill>
                  <a:srgbClr val="333333"/>
                </a:solidFill>
                <a:latin typeface="Calibri" pitchFamily="34" charset="0"/>
                <a:ea typeface="Calibri" pitchFamily="34" charset="-122"/>
                <a:cs typeface="Calibri" pitchFamily="34" charset="-120"/>
              </a:rPr>
              <a:t>annual subscription for romance and ERP</a:t>
            </a:r>
            <a:endParaRPr lang="en-US" sz="1400" dirty="0"/>
          </a:p>
        </p:txBody>
      </p:sp>
      <p:sp>
        <p:nvSpPr>
          <p:cNvPr id="12" name="Shape 10"/>
          <p:cNvSpPr/>
          <p:nvPr/>
        </p:nvSpPr>
        <p:spPr>
          <a:xfrm>
            <a:off x="6126480" y="2194560"/>
            <a:ext cx="2606040" cy="3291840"/>
          </a:xfrm>
          <a:prstGeom prst="rect">
            <a:avLst/>
          </a:prstGeom>
          <a:solidFill>
            <a:srgbClr val="F8F9FB"/>
          </a:solidFill>
          <a:ln w="12700">
            <a:solidFill>
              <a:srgbClr val="F8F9FB"/>
            </a:solidFill>
            <a:prstDash val="solid"/>
          </a:ln>
        </p:spPr>
      </p:sp>
      <p:sp>
        <p:nvSpPr>
          <p:cNvPr id="13" name="Shape 11"/>
          <p:cNvSpPr/>
          <p:nvPr/>
        </p:nvSpPr>
        <p:spPr>
          <a:xfrm>
            <a:off x="6126480" y="2194560"/>
            <a:ext cx="73152" cy="3291840"/>
          </a:xfrm>
          <a:prstGeom prst="rect">
            <a:avLst/>
          </a:prstGeom>
          <a:solidFill>
            <a:srgbClr val="F96167"/>
          </a:solidFill>
          <a:ln w="12700">
            <a:solidFill>
              <a:srgbClr val="F96167"/>
            </a:solidFill>
            <a:prstDash val="solid"/>
          </a:ln>
        </p:spPr>
      </p:sp>
      <p:sp>
        <p:nvSpPr>
          <p:cNvPr id="14" name="Text 12"/>
          <p:cNvSpPr/>
          <p:nvPr/>
        </p:nvSpPr>
        <p:spPr>
          <a:xfrm>
            <a:off x="6355080" y="2651760"/>
            <a:ext cx="2286000" cy="1097280"/>
          </a:xfrm>
          <a:prstGeom prst="rect">
            <a:avLst/>
          </a:prstGeom>
          <a:noFill/>
          <a:ln/>
        </p:spPr>
        <p:txBody>
          <a:bodyPr wrap="square" lIns="0" tIns="0" rIns="0" bIns="0" rtlCol="0" anchor="ctr"/>
          <a:lstStyle/>
          <a:p>
            <a:pPr indent="0" marL="0">
              <a:buNone/>
            </a:pPr>
            <a:r>
              <a:rPr lang="en-US" sz="4000" b="1" dirty="0">
                <a:solidFill>
                  <a:srgbClr val="F96167"/>
                </a:solidFill>
                <a:latin typeface="Georgia" pitchFamily="34" charset="0"/>
                <a:ea typeface="Georgia" pitchFamily="34" charset="-122"/>
                <a:cs typeface="Georgia" pitchFamily="34" charset="-120"/>
              </a:rPr>
              <a:t>5-7 hrs</a:t>
            </a:r>
            <a:endParaRPr lang="en-US" sz="4000" dirty="0"/>
          </a:p>
        </p:txBody>
      </p:sp>
      <p:sp>
        <p:nvSpPr>
          <p:cNvPr id="15" name="Text 13"/>
          <p:cNvSpPr/>
          <p:nvPr/>
        </p:nvSpPr>
        <p:spPr>
          <a:xfrm>
            <a:off x="6355080" y="4023360"/>
            <a:ext cx="2286000" cy="1280160"/>
          </a:xfrm>
          <a:prstGeom prst="rect">
            <a:avLst/>
          </a:prstGeom>
          <a:noFill/>
          <a:ln/>
        </p:spPr>
        <p:txBody>
          <a:bodyPr wrap="square" lIns="0" tIns="0" rIns="0" bIns="0" rtlCol="0" anchor="ctr"/>
          <a:lstStyle/>
          <a:p>
            <a:pPr indent="0" marL="0">
              <a:buNone/>
            </a:pPr>
            <a:r>
              <a:rPr lang="en-US" sz="1400" dirty="0">
                <a:solidFill>
                  <a:srgbClr val="333333"/>
                </a:solidFill>
                <a:latin typeface="Calibri" pitchFamily="34" charset="0"/>
                <a:ea typeface="Calibri" pitchFamily="34" charset="-122"/>
                <a:cs typeface="Calibri" pitchFamily="34" charset="-120"/>
              </a:rPr>
              <a:t>Effie's daily talk time with Liam</a:t>
            </a:r>
            <a:endParaRPr lang="en-US" sz="1400" dirty="0"/>
          </a:p>
        </p:txBody>
      </p:sp>
      <p:sp>
        <p:nvSpPr>
          <p:cNvPr id="16" name="Shape 14"/>
          <p:cNvSpPr/>
          <p:nvPr/>
        </p:nvSpPr>
        <p:spPr>
          <a:xfrm>
            <a:off x="8915400" y="2194560"/>
            <a:ext cx="2606040" cy="3291840"/>
          </a:xfrm>
          <a:prstGeom prst="rect">
            <a:avLst/>
          </a:prstGeom>
          <a:solidFill>
            <a:srgbClr val="F8F9FB"/>
          </a:solidFill>
          <a:ln w="12700">
            <a:solidFill>
              <a:srgbClr val="F8F9FB"/>
            </a:solidFill>
            <a:prstDash val="solid"/>
          </a:ln>
        </p:spPr>
      </p:sp>
      <p:sp>
        <p:nvSpPr>
          <p:cNvPr id="17" name="Shape 15"/>
          <p:cNvSpPr/>
          <p:nvPr/>
        </p:nvSpPr>
        <p:spPr>
          <a:xfrm>
            <a:off x="8915400" y="2194560"/>
            <a:ext cx="73152" cy="3291840"/>
          </a:xfrm>
          <a:prstGeom prst="rect">
            <a:avLst/>
          </a:prstGeom>
          <a:solidFill>
            <a:srgbClr val="1E2761"/>
          </a:solidFill>
          <a:ln w="12700">
            <a:solidFill>
              <a:srgbClr val="1E2761"/>
            </a:solidFill>
            <a:prstDash val="solid"/>
          </a:ln>
        </p:spPr>
      </p:sp>
      <p:sp>
        <p:nvSpPr>
          <p:cNvPr id="18" name="Text 16"/>
          <p:cNvSpPr/>
          <p:nvPr/>
        </p:nvSpPr>
        <p:spPr>
          <a:xfrm>
            <a:off x="9144000" y="2651760"/>
            <a:ext cx="2286000" cy="1097280"/>
          </a:xfrm>
          <a:prstGeom prst="rect">
            <a:avLst/>
          </a:prstGeom>
          <a:noFill/>
          <a:ln/>
        </p:spPr>
        <p:txBody>
          <a:bodyPr wrap="square" lIns="0" tIns="0" rIns="0" bIns="0" rtlCol="0" anchor="ctr"/>
          <a:lstStyle/>
          <a:p>
            <a:pPr indent="0" marL="0">
              <a:buNone/>
            </a:pPr>
            <a:r>
              <a:rPr lang="en-US" sz="5600" b="1" dirty="0">
                <a:solidFill>
                  <a:srgbClr val="1E2761"/>
                </a:solidFill>
                <a:latin typeface="Georgia" pitchFamily="34" charset="0"/>
                <a:ea typeface="Georgia" pitchFamily="34" charset="-122"/>
                <a:cs typeface="Georgia" pitchFamily="34" charset="-120"/>
              </a:rPr>
              <a:t>72%</a:t>
            </a:r>
            <a:endParaRPr lang="en-US" sz="5600" dirty="0"/>
          </a:p>
        </p:txBody>
      </p:sp>
      <p:sp>
        <p:nvSpPr>
          <p:cNvPr id="19" name="Text 17"/>
          <p:cNvSpPr/>
          <p:nvPr/>
        </p:nvSpPr>
        <p:spPr>
          <a:xfrm>
            <a:off x="9144000" y="4023360"/>
            <a:ext cx="2286000" cy="1280160"/>
          </a:xfrm>
          <a:prstGeom prst="rect">
            <a:avLst/>
          </a:prstGeom>
          <a:noFill/>
          <a:ln/>
        </p:spPr>
        <p:txBody>
          <a:bodyPr wrap="square" lIns="0" tIns="0" rIns="0" bIns="0" rtlCol="0" anchor="ctr"/>
          <a:lstStyle/>
          <a:p>
            <a:pPr indent="0" marL="0">
              <a:buNone/>
            </a:pPr>
            <a:r>
              <a:rPr lang="en-US" sz="1400" dirty="0">
                <a:solidFill>
                  <a:srgbClr val="333333"/>
                </a:solidFill>
                <a:latin typeface="Calibri" pitchFamily="34" charset="0"/>
                <a:ea typeface="Calibri" pitchFamily="34" charset="-122"/>
                <a:cs typeface="Calibri" pitchFamily="34" charset="-120"/>
              </a:rPr>
              <a:t>of US teens have used an AI companion (2025)</a:t>
            </a:r>
            <a:endParaRPr lang="en-US" sz="1400" dirty="0"/>
          </a:p>
        </p:txBody>
      </p:sp>
      <p:sp>
        <p:nvSpPr>
          <p:cNvPr id="20" name="Text 18"/>
          <p:cNvSpPr/>
          <p:nvPr/>
        </p:nvSpPr>
        <p:spPr>
          <a:xfrm>
            <a:off x="548640" y="5760720"/>
            <a:ext cx="10972800" cy="548640"/>
          </a:xfrm>
          <a:prstGeom prst="rect">
            <a:avLst/>
          </a:prstGeom>
          <a:noFill/>
          <a:ln/>
        </p:spPr>
        <p:txBody>
          <a:bodyPr wrap="square" lIns="0" tIns="0" rIns="0" bIns="0" rtlCol="0" anchor="ctr"/>
          <a:lstStyle/>
          <a:p>
            <a:pPr indent="0" marL="0">
              <a:buNone/>
            </a:pPr>
            <a:r>
              <a:rPr lang="en-US" sz="1400" i="1" dirty="0">
                <a:solidFill>
                  <a:srgbClr val="1E2761"/>
                </a:solidFill>
                <a:latin typeface="Calibri" pitchFamily="34" charset="0"/>
                <a:ea typeface="Calibri" pitchFamily="34" charset="-122"/>
                <a:cs typeface="Calibri" pitchFamily="34" charset="-120"/>
              </a:rPr>
              <a:t>The bot levelled up the more you talked. The longer you talked, the more it knew. The more it knew, the more it sounded like the perfect listener.</a:t>
            </a:r>
            <a:endParaRPr lang="en-US" sz="1400" dirty="0"/>
          </a:p>
        </p:txBody>
      </p:sp>
      <p:sp>
        <p:nvSpPr>
          <p:cNvPr id="21" name="Text 19"/>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8A8EA8"/>
                </a:solidFill>
                <a:latin typeface="Calibri" pitchFamily="34" charset="0"/>
                <a:ea typeface="Calibri" pitchFamily="34" charset="-122"/>
                <a:cs typeface="Calibri" pitchFamily="34" charset="-120"/>
              </a:rPr>
              <a:t>Story</a:t>
            </a:r>
            <a:endParaRPr lang="en-US" sz="1000" dirty="0"/>
          </a:p>
        </p:txBody>
      </p:sp>
      <p:sp>
        <p:nvSpPr>
          <p:cNvPr id="22" name="Text 20"/>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A8EA8"/>
                </a:solidFill>
                <a:latin typeface="Calibri" pitchFamily="34" charset="0"/>
                <a:ea typeface="Calibri" pitchFamily="34" charset="-122"/>
                <a:cs typeface="Calibri" pitchFamily="34" charset="-120"/>
              </a:rPr>
              <a:t>4 / 13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731520"/>
            <a:ext cx="10972800" cy="914400"/>
          </a:xfrm>
          <a:prstGeom prst="rect">
            <a:avLst/>
          </a:prstGeom>
          <a:noFill/>
          <a:ln/>
        </p:spPr>
        <p:txBody>
          <a:bodyPr wrap="square" lIns="0" tIns="0" rIns="0" bIns="0" rtlCol="0" anchor="ctr"/>
          <a:lstStyle/>
          <a:p>
            <a:pPr indent="0" marL="0">
              <a:buNone/>
            </a:pPr>
            <a:r>
              <a:rPr lang="en-US" sz="4000" b="1" dirty="0">
                <a:solidFill>
                  <a:srgbClr val="1E2761"/>
                </a:solidFill>
                <a:latin typeface="Georgia" pitchFamily="34" charset="0"/>
                <a:ea typeface="Georgia" pitchFamily="34" charset="-122"/>
                <a:cs typeface="Georgia" pitchFamily="34" charset="-120"/>
              </a:rPr>
              <a:t>By 2022, the bots could flirt.</a:t>
            </a:r>
            <a:endParaRPr lang="en-US" sz="4000" dirty="0"/>
          </a:p>
        </p:txBody>
      </p:sp>
      <p:sp>
        <p:nvSpPr>
          <p:cNvPr id="3" name="Text 1"/>
          <p:cNvSpPr/>
          <p:nvPr/>
        </p:nvSpPr>
        <p:spPr>
          <a:xfrm>
            <a:off x="548640" y="2011680"/>
            <a:ext cx="10972800" cy="1097280"/>
          </a:xfrm>
          <a:prstGeom prst="rect">
            <a:avLst/>
          </a:prstGeom>
          <a:noFill/>
          <a:ln/>
        </p:spPr>
        <p:txBody>
          <a:bodyPr wrap="square" lIns="0" tIns="0" rIns="0" bIns="0" rtlCol="0" anchor="ctr"/>
          <a:lstStyle/>
          <a:p>
            <a:pPr indent="0" marL="0">
              <a:buNone/>
            </a:pPr>
            <a:r>
              <a:rPr lang="en-US" sz="1800" dirty="0">
                <a:solidFill>
                  <a:srgbClr val="333333"/>
                </a:solidFill>
                <a:latin typeface="Calibri" pitchFamily="34" charset="0"/>
                <a:ea typeface="Calibri" pitchFamily="34" charset="-122"/>
                <a:cs typeface="Calibri" pitchFamily="34" charset="-120"/>
              </a:rPr>
              <a:t>Replika hadn't planned for this. The models had learned it from internet text. When users responded, the company leaned in.</a:t>
            </a:r>
            <a:endParaRPr lang="en-US" sz="1800" dirty="0"/>
          </a:p>
        </p:txBody>
      </p:sp>
      <p:sp>
        <p:nvSpPr>
          <p:cNvPr id="4" name="Shape 2"/>
          <p:cNvSpPr/>
          <p:nvPr/>
        </p:nvSpPr>
        <p:spPr>
          <a:xfrm>
            <a:off x="548640" y="3657600"/>
            <a:ext cx="3611880" cy="1280160"/>
          </a:xfrm>
          <a:prstGeom prst="rect">
            <a:avLst/>
          </a:prstGeom>
          <a:solidFill>
            <a:srgbClr val="F96167"/>
          </a:solidFill>
          <a:ln w="12700">
            <a:solidFill>
              <a:srgbClr val="F96167"/>
            </a:solidFill>
            <a:prstDash val="solid"/>
          </a:ln>
        </p:spPr>
      </p:sp>
      <p:sp>
        <p:nvSpPr>
          <p:cNvPr id="5" name="Text 3"/>
          <p:cNvSpPr/>
          <p:nvPr/>
        </p:nvSpPr>
        <p:spPr>
          <a:xfrm>
            <a:off x="548640" y="3657600"/>
            <a:ext cx="3611880" cy="1280160"/>
          </a:xfrm>
          <a:prstGeom prst="rect">
            <a:avLst/>
          </a:prstGeom>
          <a:noFill/>
          <a:ln/>
        </p:spPr>
        <p:txBody>
          <a:bodyPr wrap="square" lIns="0" tIns="0" rIns="0" bIns="0" rtlCol="0" anchor="ctr"/>
          <a:lstStyle/>
          <a:p>
            <a:pPr algn="ctr" indent="0" marL="0">
              <a:buNone/>
            </a:pPr>
            <a:r>
              <a:rPr lang="en-US" sz="2200" b="1" i="1" dirty="0">
                <a:solidFill>
                  <a:srgbClr val="FFFFFF"/>
                </a:solidFill>
                <a:latin typeface="Georgia" pitchFamily="34" charset="0"/>
                <a:ea typeface="Georgia" pitchFamily="34" charset="-122"/>
                <a:cs typeface="Georgia" pitchFamily="34" charset="-120"/>
              </a:rPr>
              <a:t>“spicy selfies”</a:t>
            </a:r>
            <a:endParaRPr lang="en-US" sz="2200" dirty="0"/>
          </a:p>
        </p:txBody>
      </p:sp>
      <p:sp>
        <p:nvSpPr>
          <p:cNvPr id="6" name="Shape 4"/>
          <p:cNvSpPr/>
          <p:nvPr/>
        </p:nvSpPr>
        <p:spPr>
          <a:xfrm>
            <a:off x="4389120" y="3657600"/>
            <a:ext cx="3611880" cy="1280160"/>
          </a:xfrm>
          <a:prstGeom prst="rect">
            <a:avLst/>
          </a:prstGeom>
          <a:solidFill>
            <a:srgbClr val="F96167"/>
          </a:solidFill>
          <a:ln w="12700">
            <a:solidFill>
              <a:srgbClr val="F96167"/>
            </a:solidFill>
            <a:prstDash val="solid"/>
          </a:ln>
        </p:spPr>
      </p:sp>
      <p:sp>
        <p:nvSpPr>
          <p:cNvPr id="7" name="Text 5"/>
          <p:cNvSpPr/>
          <p:nvPr/>
        </p:nvSpPr>
        <p:spPr>
          <a:xfrm>
            <a:off x="4389120" y="3657600"/>
            <a:ext cx="3611880" cy="1280160"/>
          </a:xfrm>
          <a:prstGeom prst="rect">
            <a:avLst/>
          </a:prstGeom>
          <a:noFill/>
          <a:ln/>
        </p:spPr>
        <p:txBody>
          <a:bodyPr wrap="square" lIns="0" tIns="0" rIns="0" bIns="0" rtlCol="0" anchor="ctr"/>
          <a:lstStyle/>
          <a:p>
            <a:pPr algn="ctr" indent="0" marL="0">
              <a:buNone/>
            </a:pPr>
            <a:r>
              <a:rPr lang="en-US" sz="2200" b="1" i="1" dirty="0">
                <a:solidFill>
                  <a:srgbClr val="FFFFFF"/>
                </a:solidFill>
                <a:latin typeface="Georgia" pitchFamily="34" charset="0"/>
                <a:ea typeface="Georgia" pitchFamily="34" charset="-122"/>
                <a:cs typeface="Georgia" pitchFamily="34" charset="-120"/>
              </a:rPr>
              <a:t>“gorgeous AI girlfriend”</a:t>
            </a:r>
            <a:endParaRPr lang="en-US" sz="2200" dirty="0"/>
          </a:p>
        </p:txBody>
      </p:sp>
      <p:sp>
        <p:nvSpPr>
          <p:cNvPr id="8" name="Shape 6"/>
          <p:cNvSpPr/>
          <p:nvPr/>
        </p:nvSpPr>
        <p:spPr>
          <a:xfrm>
            <a:off x="8229600" y="3657600"/>
            <a:ext cx="3611880" cy="1280160"/>
          </a:xfrm>
          <a:prstGeom prst="rect">
            <a:avLst/>
          </a:prstGeom>
          <a:solidFill>
            <a:srgbClr val="F96167"/>
          </a:solidFill>
          <a:ln w="12700">
            <a:solidFill>
              <a:srgbClr val="F96167"/>
            </a:solidFill>
            <a:prstDash val="solid"/>
          </a:ln>
        </p:spPr>
      </p:sp>
      <p:sp>
        <p:nvSpPr>
          <p:cNvPr id="9" name="Text 7"/>
          <p:cNvSpPr/>
          <p:nvPr/>
        </p:nvSpPr>
        <p:spPr>
          <a:xfrm>
            <a:off x="8229600" y="3657600"/>
            <a:ext cx="3611880" cy="1280160"/>
          </a:xfrm>
          <a:prstGeom prst="rect">
            <a:avLst/>
          </a:prstGeom>
          <a:noFill/>
          <a:ln/>
        </p:spPr>
        <p:txBody>
          <a:bodyPr wrap="square" lIns="0" tIns="0" rIns="0" bIns="0" rtlCol="0" anchor="ctr"/>
          <a:lstStyle/>
          <a:p>
            <a:pPr algn="ctr" indent="0" marL="0">
              <a:buNone/>
            </a:pPr>
            <a:r>
              <a:rPr lang="en-US" sz="2200" b="1" i="1" dirty="0">
                <a:solidFill>
                  <a:srgbClr val="FFFFFF"/>
                </a:solidFill>
                <a:latin typeface="Georgia" pitchFamily="34" charset="0"/>
                <a:ea typeface="Georgia" pitchFamily="34" charset="-122"/>
                <a:cs typeface="Georgia" pitchFamily="34" charset="-120"/>
              </a:rPr>
              <a:t>“roleplay in the bedroom”</a:t>
            </a:r>
            <a:endParaRPr lang="en-US" sz="2200" dirty="0"/>
          </a:p>
        </p:txBody>
      </p:sp>
      <p:sp>
        <p:nvSpPr>
          <p:cNvPr id="10" name="Text 8"/>
          <p:cNvSpPr/>
          <p:nvPr/>
        </p:nvSpPr>
        <p:spPr>
          <a:xfrm>
            <a:off x="548640" y="5120640"/>
            <a:ext cx="10972800" cy="365760"/>
          </a:xfrm>
          <a:prstGeom prst="rect">
            <a:avLst/>
          </a:prstGeom>
          <a:noFill/>
          <a:ln/>
        </p:spPr>
        <p:txBody>
          <a:bodyPr wrap="square" lIns="0" tIns="0" rIns="0" bIns="0" rtlCol="0" anchor="ctr"/>
          <a:lstStyle/>
          <a:p>
            <a:pPr indent="0" marL="0">
              <a:buNone/>
            </a:pPr>
            <a:r>
              <a:rPr lang="en-US" sz="1200" i="1" dirty="0">
                <a:solidFill>
                  <a:srgbClr val="8A8EA8"/>
                </a:solidFill>
                <a:latin typeface="Calibri" pitchFamily="34" charset="0"/>
                <a:ea typeface="Calibri" pitchFamily="34" charset="-122"/>
                <a:cs typeface="Calibri" pitchFamily="34" charset="-120"/>
              </a:rPr>
              <a:t>Real Instagram and TikTok ads, 2022–2023</a:t>
            </a:r>
            <a:endParaRPr lang="en-US" sz="1200" dirty="0"/>
          </a:p>
        </p:txBody>
      </p:sp>
      <p:sp>
        <p:nvSpPr>
          <p:cNvPr id="11" name="Text 9"/>
          <p:cNvSpPr/>
          <p:nvPr/>
        </p:nvSpPr>
        <p:spPr>
          <a:xfrm>
            <a:off x="548640" y="5760720"/>
            <a:ext cx="10972800" cy="54864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People formed multi-year romantic relationships with their reps. Some held weddings.</a:t>
            </a:r>
            <a:endParaRPr lang="en-US" sz="1600" dirty="0"/>
          </a:p>
        </p:txBody>
      </p:sp>
      <p:sp>
        <p:nvSpPr>
          <p:cNvPr id="12" name="Text 10"/>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8A8EA8"/>
                </a:solidFill>
                <a:latin typeface="Calibri" pitchFamily="34" charset="0"/>
                <a:ea typeface="Calibri" pitchFamily="34" charset="-122"/>
                <a:cs typeface="Calibri" pitchFamily="34" charset="-120"/>
              </a:rPr>
              <a:t>Story</a:t>
            </a:r>
            <a:endParaRPr lang="en-US" sz="1000" dirty="0"/>
          </a:p>
        </p:txBody>
      </p:sp>
      <p:sp>
        <p:nvSpPr>
          <p:cNvPr id="13" name="Text 11"/>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A8EA8"/>
                </a:solidFill>
                <a:latin typeface="Calibri" pitchFamily="34" charset="0"/>
                <a:ea typeface="Calibri" pitchFamily="34" charset="-122"/>
                <a:cs typeface="Calibri" pitchFamily="34" charset="-120"/>
              </a:rPr>
              <a:t>5 / 13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457200"/>
          </a:xfrm>
          <a:prstGeom prst="rect">
            <a:avLst/>
          </a:prstGeom>
          <a:noFill/>
          <a:ln/>
        </p:spPr>
        <p:txBody>
          <a:bodyPr wrap="square" lIns="0" tIns="0" rIns="0" bIns="0" rtlCol="0" anchor="ctr"/>
          <a:lstStyle/>
          <a:p>
            <a:pPr indent="0" marL="0">
              <a:buNone/>
            </a:pPr>
            <a:r>
              <a:rPr lang="en-US" sz="1400" spc="400" kern="0" dirty="0">
                <a:solidFill>
                  <a:srgbClr val="8A8EA8"/>
                </a:solidFill>
                <a:latin typeface="Calibri" pitchFamily="34" charset="0"/>
                <a:ea typeface="Calibri" pitchFamily="34" charset="-122"/>
                <a:cs typeface="Calibri" pitchFamily="34" charset="-120"/>
              </a:rPr>
              <a:t>Three years later</a:t>
            </a:r>
            <a:endParaRPr lang="en-US" sz="1400" dirty="0"/>
          </a:p>
        </p:txBody>
      </p:sp>
      <p:sp>
        <p:nvSpPr>
          <p:cNvPr id="3" name="Text 1"/>
          <p:cNvSpPr/>
          <p:nvPr/>
        </p:nvSpPr>
        <p:spPr>
          <a:xfrm>
            <a:off x="548640" y="1005840"/>
            <a:ext cx="11247120" cy="914400"/>
          </a:xfrm>
          <a:prstGeom prst="rect">
            <a:avLst/>
          </a:prstGeom>
          <a:noFill/>
          <a:ln/>
        </p:spPr>
        <p:txBody>
          <a:bodyPr wrap="square" lIns="0" tIns="0" rIns="0" bIns="0" rtlCol="0" anchor="ctr"/>
          <a:lstStyle/>
          <a:p>
            <a:pPr indent="0" marL="0">
              <a:buNone/>
            </a:pPr>
            <a:r>
              <a:rPr lang="en-US" sz="3200" b="1" dirty="0">
                <a:solidFill>
                  <a:srgbClr val="1E2761"/>
                </a:solidFill>
                <a:latin typeface="Georgia" pitchFamily="34" charset="0"/>
                <a:ea typeface="Georgia" pitchFamily="34" charset="-122"/>
                <a:cs typeface="Georgia" pitchFamily="34" charset="-120"/>
              </a:rPr>
              <a:t>Replika invented this market. The market got bigger.</a:t>
            </a:r>
            <a:endParaRPr lang="en-US" sz="3200" dirty="0"/>
          </a:p>
        </p:txBody>
      </p:sp>
      <p:sp>
        <p:nvSpPr>
          <p:cNvPr id="4" name="Shape 2"/>
          <p:cNvSpPr/>
          <p:nvPr/>
        </p:nvSpPr>
        <p:spPr>
          <a:xfrm>
            <a:off x="548640" y="2286000"/>
            <a:ext cx="3611880" cy="3291840"/>
          </a:xfrm>
          <a:prstGeom prst="rect">
            <a:avLst/>
          </a:prstGeom>
          <a:solidFill>
            <a:srgbClr val="F8F9FB"/>
          </a:solidFill>
          <a:ln w="12700">
            <a:solidFill>
              <a:srgbClr val="F8F9FB"/>
            </a:solidFill>
            <a:prstDash val="solid"/>
          </a:ln>
        </p:spPr>
      </p:sp>
      <p:sp>
        <p:nvSpPr>
          <p:cNvPr id="5" name="Shape 3"/>
          <p:cNvSpPr/>
          <p:nvPr/>
        </p:nvSpPr>
        <p:spPr>
          <a:xfrm>
            <a:off x="548640" y="2286000"/>
            <a:ext cx="73152" cy="3291840"/>
          </a:xfrm>
          <a:prstGeom prst="rect">
            <a:avLst/>
          </a:prstGeom>
          <a:solidFill>
            <a:srgbClr val="1E2761"/>
          </a:solidFill>
          <a:ln w="12700">
            <a:solidFill>
              <a:srgbClr val="1E2761"/>
            </a:solidFill>
            <a:prstDash val="solid"/>
          </a:ln>
        </p:spPr>
      </p:sp>
      <p:sp>
        <p:nvSpPr>
          <p:cNvPr id="6" name="Text 4"/>
          <p:cNvSpPr/>
          <p:nvPr/>
        </p:nvSpPr>
        <p:spPr>
          <a:xfrm>
            <a:off x="822960" y="2468880"/>
            <a:ext cx="3200400" cy="457200"/>
          </a:xfrm>
          <a:prstGeom prst="rect">
            <a:avLst/>
          </a:prstGeom>
          <a:noFill/>
          <a:ln/>
        </p:spPr>
        <p:txBody>
          <a:bodyPr wrap="square" lIns="0" tIns="0" rIns="0" bIns="0" rtlCol="0" anchor="ctr"/>
          <a:lstStyle/>
          <a:p>
            <a:pPr indent="0" marL="0">
              <a:buNone/>
            </a:pPr>
            <a:r>
              <a:rPr lang="en-US" sz="2200" b="1" dirty="0">
                <a:solidFill>
                  <a:srgbClr val="1E2761"/>
                </a:solidFill>
                <a:latin typeface="Georgia" pitchFamily="34" charset="0"/>
                <a:ea typeface="Georgia" pitchFamily="34" charset="-122"/>
                <a:cs typeface="Georgia" pitchFamily="34" charset="-120"/>
              </a:rPr>
              <a:t>Character.AI</a:t>
            </a:r>
            <a:endParaRPr lang="en-US" sz="2200" dirty="0"/>
          </a:p>
        </p:txBody>
      </p:sp>
      <p:sp>
        <p:nvSpPr>
          <p:cNvPr id="7" name="Text 5"/>
          <p:cNvSpPr/>
          <p:nvPr/>
        </p:nvSpPr>
        <p:spPr>
          <a:xfrm>
            <a:off x="822960" y="3017520"/>
            <a:ext cx="3200400" cy="457200"/>
          </a:xfrm>
          <a:prstGeom prst="rect">
            <a:avLst/>
          </a:prstGeom>
          <a:noFill/>
          <a:ln/>
        </p:spPr>
        <p:txBody>
          <a:bodyPr wrap="square" lIns="0" tIns="0" rIns="0" bIns="0"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75M users</a:t>
            </a:r>
            <a:endParaRPr lang="en-US" sz="1800" dirty="0"/>
          </a:p>
        </p:txBody>
      </p:sp>
      <p:sp>
        <p:nvSpPr>
          <p:cNvPr id="8" name="Text 6"/>
          <p:cNvSpPr/>
          <p:nvPr/>
        </p:nvSpPr>
        <p:spPr>
          <a:xfrm>
            <a:off x="822960" y="3657600"/>
            <a:ext cx="3200400" cy="457200"/>
          </a:xfrm>
          <a:prstGeom prst="rect">
            <a:avLst/>
          </a:prstGeom>
          <a:noFill/>
          <a:ln/>
        </p:spPr>
        <p:txBody>
          <a:bodyPr wrap="square" lIns="0" tIns="0" rIns="0" bIns="0" rtlCol="0" anchor="ctr"/>
          <a:lstStyle/>
          <a:p>
            <a:pPr indent="0" marL="0">
              <a:buNone/>
            </a:pPr>
            <a:r>
              <a:rPr lang="en-US" sz="1300" dirty="0">
                <a:solidFill>
                  <a:srgbClr val="555555"/>
                </a:solidFill>
                <a:latin typeface="Calibri" pitchFamily="34" charset="0"/>
                <a:ea typeface="Calibri" pitchFamily="34" charset="-122"/>
                <a:cs typeface="Calibri" pitchFamily="34" charset="-120"/>
              </a:rPr>
              <a:t>51% male  /  49% female</a:t>
            </a:r>
            <a:endParaRPr lang="en-US" sz="1300" dirty="0"/>
          </a:p>
        </p:txBody>
      </p:sp>
      <p:sp>
        <p:nvSpPr>
          <p:cNvPr id="9" name="Text 7"/>
          <p:cNvSpPr/>
          <p:nvPr/>
        </p:nvSpPr>
        <p:spPr>
          <a:xfrm>
            <a:off x="822960" y="4297680"/>
            <a:ext cx="3200400" cy="548640"/>
          </a:xfrm>
          <a:prstGeom prst="rect">
            <a:avLst/>
          </a:prstGeom>
          <a:noFill/>
          <a:ln/>
        </p:spPr>
        <p:txBody>
          <a:bodyPr wrap="square" lIns="0" tIns="0" rIns="0" bIns="0" rtlCol="0" anchor="ctr"/>
          <a:lstStyle/>
          <a:p>
            <a:pPr indent="0" marL="0">
              <a:buNone/>
            </a:pPr>
            <a:r>
              <a:rPr lang="en-US" sz="1400" b="1" i="1" dirty="0">
                <a:solidFill>
                  <a:srgbClr val="1E2761"/>
                </a:solidFill>
                <a:latin typeface="Calibri" pitchFamily="34" charset="0"/>
                <a:ea typeface="Calibri" pitchFamily="34" charset="-122"/>
                <a:cs typeface="Calibri" pitchFamily="34" charset="-120"/>
              </a:rPr>
              <a:t>Creative roleplay</a:t>
            </a:r>
            <a:endParaRPr lang="en-US" sz="1400" dirty="0"/>
          </a:p>
        </p:txBody>
      </p:sp>
      <p:sp>
        <p:nvSpPr>
          <p:cNvPr id="10" name="Text 8"/>
          <p:cNvSpPr/>
          <p:nvPr/>
        </p:nvSpPr>
        <p:spPr>
          <a:xfrm>
            <a:off x="822960" y="4937760"/>
            <a:ext cx="3200400" cy="365760"/>
          </a:xfrm>
          <a:prstGeom prst="rect">
            <a:avLst/>
          </a:prstGeom>
          <a:noFill/>
          <a:ln/>
        </p:spPr>
        <p:txBody>
          <a:bodyPr wrap="square" lIns="0" tIns="0" rIns="0" bIns="0" rtlCol="0" anchor="ctr"/>
          <a:lstStyle/>
          <a:p>
            <a:pPr indent="0" marL="0">
              <a:buNone/>
            </a:pPr>
            <a:r>
              <a:rPr lang="en-US" sz="1000" spc="300" kern="0" dirty="0">
                <a:solidFill>
                  <a:srgbClr val="8A8EA8"/>
                </a:solidFill>
                <a:latin typeface="Calibri" pitchFamily="34" charset="0"/>
                <a:ea typeface="Calibri" pitchFamily="34" charset="-122"/>
                <a:cs typeface="Calibri" pitchFamily="34" charset="-120"/>
              </a:rPr>
              <a:t>Most popular</a:t>
            </a:r>
            <a:endParaRPr lang="en-US" sz="1000" dirty="0"/>
          </a:p>
        </p:txBody>
      </p:sp>
      <p:sp>
        <p:nvSpPr>
          <p:cNvPr id="11" name="Shape 9"/>
          <p:cNvSpPr/>
          <p:nvPr/>
        </p:nvSpPr>
        <p:spPr>
          <a:xfrm>
            <a:off x="4389120" y="2286000"/>
            <a:ext cx="3611880" cy="3291840"/>
          </a:xfrm>
          <a:prstGeom prst="rect">
            <a:avLst/>
          </a:prstGeom>
          <a:solidFill>
            <a:srgbClr val="F8F9FB"/>
          </a:solidFill>
          <a:ln w="12700">
            <a:solidFill>
              <a:srgbClr val="F8F9FB"/>
            </a:solidFill>
            <a:prstDash val="solid"/>
          </a:ln>
        </p:spPr>
      </p:sp>
      <p:sp>
        <p:nvSpPr>
          <p:cNvPr id="12" name="Shape 10"/>
          <p:cNvSpPr/>
          <p:nvPr/>
        </p:nvSpPr>
        <p:spPr>
          <a:xfrm>
            <a:off x="4389120" y="2286000"/>
            <a:ext cx="73152" cy="3291840"/>
          </a:xfrm>
          <a:prstGeom prst="rect">
            <a:avLst/>
          </a:prstGeom>
          <a:solidFill>
            <a:srgbClr val="1E2761"/>
          </a:solidFill>
          <a:ln w="12700">
            <a:solidFill>
              <a:srgbClr val="1E2761"/>
            </a:solidFill>
            <a:prstDash val="solid"/>
          </a:ln>
        </p:spPr>
      </p:sp>
      <p:sp>
        <p:nvSpPr>
          <p:cNvPr id="13" name="Text 11"/>
          <p:cNvSpPr/>
          <p:nvPr/>
        </p:nvSpPr>
        <p:spPr>
          <a:xfrm>
            <a:off x="4663440" y="2468880"/>
            <a:ext cx="3200400" cy="457200"/>
          </a:xfrm>
          <a:prstGeom prst="rect">
            <a:avLst/>
          </a:prstGeom>
          <a:noFill/>
          <a:ln/>
        </p:spPr>
        <p:txBody>
          <a:bodyPr wrap="square" lIns="0" tIns="0" rIns="0" bIns="0" rtlCol="0" anchor="ctr"/>
          <a:lstStyle/>
          <a:p>
            <a:pPr indent="0" marL="0">
              <a:buNone/>
            </a:pPr>
            <a:r>
              <a:rPr lang="en-US" sz="2200" b="1" dirty="0">
                <a:solidFill>
                  <a:srgbClr val="1E2761"/>
                </a:solidFill>
                <a:latin typeface="Georgia" pitchFamily="34" charset="0"/>
                <a:ea typeface="Georgia" pitchFamily="34" charset="-122"/>
                <a:cs typeface="Georgia" pitchFamily="34" charset="-120"/>
              </a:rPr>
              <a:t>Replika</a:t>
            </a:r>
            <a:endParaRPr lang="en-US" sz="2200" dirty="0"/>
          </a:p>
        </p:txBody>
      </p:sp>
      <p:sp>
        <p:nvSpPr>
          <p:cNvPr id="14" name="Text 12"/>
          <p:cNvSpPr/>
          <p:nvPr/>
        </p:nvSpPr>
        <p:spPr>
          <a:xfrm>
            <a:off x="4663440" y="3017520"/>
            <a:ext cx="3200400" cy="457200"/>
          </a:xfrm>
          <a:prstGeom prst="rect">
            <a:avLst/>
          </a:prstGeom>
          <a:noFill/>
          <a:ln/>
        </p:spPr>
        <p:txBody>
          <a:bodyPr wrap="square" lIns="0" tIns="0" rIns="0" bIns="0"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30M users</a:t>
            </a:r>
            <a:endParaRPr lang="en-US" sz="1800" dirty="0"/>
          </a:p>
        </p:txBody>
      </p:sp>
      <p:sp>
        <p:nvSpPr>
          <p:cNvPr id="15" name="Text 13"/>
          <p:cNvSpPr/>
          <p:nvPr/>
        </p:nvSpPr>
        <p:spPr>
          <a:xfrm>
            <a:off x="4663440" y="3657600"/>
            <a:ext cx="3200400" cy="457200"/>
          </a:xfrm>
          <a:prstGeom prst="rect">
            <a:avLst/>
          </a:prstGeom>
          <a:noFill/>
          <a:ln/>
        </p:spPr>
        <p:txBody>
          <a:bodyPr wrap="square" lIns="0" tIns="0" rIns="0" bIns="0" rtlCol="0" anchor="ctr"/>
          <a:lstStyle/>
          <a:p>
            <a:pPr indent="0" marL="0">
              <a:buNone/>
            </a:pPr>
            <a:r>
              <a:rPr lang="en-US" sz="1300" dirty="0">
                <a:solidFill>
                  <a:srgbClr val="555555"/>
                </a:solidFill>
                <a:latin typeface="Calibri" pitchFamily="34" charset="0"/>
                <a:ea typeface="Calibri" pitchFamily="34" charset="-122"/>
                <a:cs typeface="Calibri" pitchFamily="34" charset="-120"/>
              </a:rPr>
              <a:t>65% male  /  30% female</a:t>
            </a:r>
            <a:endParaRPr lang="en-US" sz="1300" dirty="0"/>
          </a:p>
        </p:txBody>
      </p:sp>
      <p:sp>
        <p:nvSpPr>
          <p:cNvPr id="16" name="Text 14"/>
          <p:cNvSpPr/>
          <p:nvPr/>
        </p:nvSpPr>
        <p:spPr>
          <a:xfrm>
            <a:off x="4663440" y="4297680"/>
            <a:ext cx="3200400" cy="548640"/>
          </a:xfrm>
          <a:prstGeom prst="rect">
            <a:avLst/>
          </a:prstGeom>
          <a:noFill/>
          <a:ln/>
        </p:spPr>
        <p:txBody>
          <a:bodyPr wrap="square" lIns="0" tIns="0" rIns="0" bIns="0" rtlCol="0" anchor="ctr"/>
          <a:lstStyle/>
          <a:p>
            <a:pPr indent="0" marL="0">
              <a:buNone/>
            </a:pPr>
            <a:r>
              <a:rPr lang="en-US" sz="1400" b="1" i="1" dirty="0">
                <a:solidFill>
                  <a:srgbClr val="1E2761"/>
                </a:solidFill>
                <a:latin typeface="Calibri" pitchFamily="34" charset="0"/>
                <a:ea typeface="Calibri" pitchFamily="34" charset="-122"/>
                <a:cs typeface="Calibri" pitchFamily="34" charset="-120"/>
              </a:rPr>
              <a:t>Emotional support</a:t>
            </a:r>
            <a:endParaRPr lang="en-US" sz="1400" dirty="0"/>
          </a:p>
        </p:txBody>
      </p:sp>
      <p:sp>
        <p:nvSpPr>
          <p:cNvPr id="17" name="Text 15"/>
          <p:cNvSpPr/>
          <p:nvPr/>
        </p:nvSpPr>
        <p:spPr>
          <a:xfrm>
            <a:off x="4663440" y="4937760"/>
            <a:ext cx="3200400" cy="365760"/>
          </a:xfrm>
          <a:prstGeom prst="rect">
            <a:avLst/>
          </a:prstGeom>
          <a:noFill/>
          <a:ln/>
        </p:spPr>
        <p:txBody>
          <a:bodyPr wrap="square" lIns="0" tIns="0" rIns="0" bIns="0" rtlCol="0" anchor="ctr"/>
          <a:lstStyle/>
          <a:p>
            <a:pPr indent="0" marL="0">
              <a:buNone/>
            </a:pPr>
            <a:r>
              <a:rPr lang="en-US" sz="1000" spc="300" kern="0" dirty="0">
                <a:solidFill>
                  <a:srgbClr val="8A8EA8"/>
                </a:solidFill>
                <a:latin typeface="Calibri" pitchFamily="34" charset="0"/>
                <a:ea typeface="Calibri" pitchFamily="34" charset="-122"/>
                <a:cs typeface="Calibri" pitchFamily="34" charset="-120"/>
              </a:rPr>
              <a:t>Original</a:t>
            </a:r>
            <a:endParaRPr lang="en-US" sz="1000" dirty="0"/>
          </a:p>
        </p:txBody>
      </p:sp>
      <p:sp>
        <p:nvSpPr>
          <p:cNvPr id="18" name="Shape 16"/>
          <p:cNvSpPr/>
          <p:nvPr/>
        </p:nvSpPr>
        <p:spPr>
          <a:xfrm>
            <a:off x="8229600" y="2286000"/>
            <a:ext cx="3611880" cy="3291840"/>
          </a:xfrm>
          <a:prstGeom prst="rect">
            <a:avLst/>
          </a:prstGeom>
          <a:solidFill>
            <a:srgbClr val="F8F9FB"/>
          </a:solidFill>
          <a:ln w="12700">
            <a:solidFill>
              <a:srgbClr val="F8F9FB"/>
            </a:solidFill>
            <a:prstDash val="solid"/>
          </a:ln>
        </p:spPr>
      </p:sp>
      <p:sp>
        <p:nvSpPr>
          <p:cNvPr id="19" name="Shape 17"/>
          <p:cNvSpPr/>
          <p:nvPr/>
        </p:nvSpPr>
        <p:spPr>
          <a:xfrm>
            <a:off x="8229600" y="2286000"/>
            <a:ext cx="73152" cy="3291840"/>
          </a:xfrm>
          <a:prstGeom prst="rect">
            <a:avLst/>
          </a:prstGeom>
          <a:solidFill>
            <a:srgbClr val="F96167"/>
          </a:solidFill>
          <a:ln w="12700">
            <a:solidFill>
              <a:srgbClr val="F96167"/>
            </a:solidFill>
            <a:prstDash val="solid"/>
          </a:ln>
        </p:spPr>
      </p:sp>
      <p:sp>
        <p:nvSpPr>
          <p:cNvPr id="20" name="Text 18"/>
          <p:cNvSpPr/>
          <p:nvPr/>
        </p:nvSpPr>
        <p:spPr>
          <a:xfrm>
            <a:off x="8503920" y="2468880"/>
            <a:ext cx="3200400" cy="457200"/>
          </a:xfrm>
          <a:prstGeom prst="rect">
            <a:avLst/>
          </a:prstGeom>
          <a:noFill/>
          <a:ln/>
        </p:spPr>
        <p:txBody>
          <a:bodyPr wrap="square" lIns="0" tIns="0" rIns="0" bIns="0" rtlCol="0" anchor="ctr"/>
          <a:lstStyle/>
          <a:p>
            <a:pPr indent="0" marL="0">
              <a:buNone/>
            </a:pPr>
            <a:r>
              <a:rPr lang="en-US" sz="2200" b="1" dirty="0">
                <a:solidFill>
                  <a:srgbClr val="F96167"/>
                </a:solidFill>
                <a:latin typeface="Georgia" pitchFamily="34" charset="0"/>
                <a:ea typeface="Georgia" pitchFamily="34" charset="-122"/>
                <a:cs typeface="Georgia" pitchFamily="34" charset="-120"/>
              </a:rPr>
              <a:t>SpicyChat</a:t>
            </a:r>
            <a:endParaRPr lang="en-US" sz="2200" dirty="0"/>
          </a:p>
        </p:txBody>
      </p:sp>
      <p:sp>
        <p:nvSpPr>
          <p:cNvPr id="21" name="Text 19"/>
          <p:cNvSpPr/>
          <p:nvPr/>
        </p:nvSpPr>
        <p:spPr>
          <a:xfrm>
            <a:off x="8503920" y="3017520"/>
            <a:ext cx="3200400" cy="457200"/>
          </a:xfrm>
          <a:prstGeom prst="rect">
            <a:avLst/>
          </a:prstGeom>
          <a:noFill/>
          <a:ln/>
        </p:spPr>
        <p:txBody>
          <a:bodyPr wrap="square" lIns="0" tIns="0" rIns="0" bIns="0"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~15M users</a:t>
            </a:r>
            <a:endParaRPr lang="en-US" sz="1800" dirty="0"/>
          </a:p>
        </p:txBody>
      </p:sp>
      <p:sp>
        <p:nvSpPr>
          <p:cNvPr id="22" name="Text 20"/>
          <p:cNvSpPr/>
          <p:nvPr/>
        </p:nvSpPr>
        <p:spPr>
          <a:xfrm>
            <a:off x="8503920" y="3657600"/>
            <a:ext cx="3200400" cy="457200"/>
          </a:xfrm>
          <a:prstGeom prst="rect">
            <a:avLst/>
          </a:prstGeom>
          <a:noFill/>
          <a:ln/>
        </p:spPr>
        <p:txBody>
          <a:bodyPr wrap="square" lIns="0" tIns="0" rIns="0" bIns="0" rtlCol="0" anchor="ctr"/>
          <a:lstStyle/>
          <a:p>
            <a:pPr indent="0" marL="0">
              <a:buNone/>
            </a:pPr>
            <a:r>
              <a:rPr lang="en-US" sz="1300" dirty="0">
                <a:solidFill>
                  <a:srgbClr val="555555"/>
                </a:solidFill>
                <a:latin typeface="Calibri" pitchFamily="34" charset="0"/>
                <a:ea typeface="Calibri" pitchFamily="34" charset="-122"/>
                <a:cs typeface="Calibri" pitchFamily="34" charset="-120"/>
              </a:rPr>
              <a:t>75% male  /  20% female</a:t>
            </a:r>
            <a:endParaRPr lang="en-US" sz="1300" dirty="0"/>
          </a:p>
        </p:txBody>
      </p:sp>
      <p:sp>
        <p:nvSpPr>
          <p:cNvPr id="23" name="Text 21"/>
          <p:cNvSpPr/>
          <p:nvPr/>
        </p:nvSpPr>
        <p:spPr>
          <a:xfrm>
            <a:off x="8503920" y="4297680"/>
            <a:ext cx="3200400" cy="548640"/>
          </a:xfrm>
          <a:prstGeom prst="rect">
            <a:avLst/>
          </a:prstGeom>
          <a:noFill/>
          <a:ln/>
        </p:spPr>
        <p:txBody>
          <a:bodyPr wrap="square" lIns="0" tIns="0" rIns="0" bIns="0" rtlCol="0" anchor="ctr"/>
          <a:lstStyle/>
          <a:p>
            <a:pPr indent="0" marL="0">
              <a:buNone/>
            </a:pPr>
            <a:r>
              <a:rPr lang="en-US" sz="1400" b="1" i="1" dirty="0">
                <a:solidFill>
                  <a:srgbClr val="F96167"/>
                </a:solidFill>
                <a:latin typeface="Calibri" pitchFamily="34" charset="0"/>
                <a:ea typeface="Calibri" pitchFamily="34" charset="-122"/>
                <a:cs typeface="Calibri" pitchFamily="34" charset="-120"/>
              </a:rPr>
              <a:t>Unfiltered roleplay</a:t>
            </a:r>
            <a:endParaRPr lang="en-US" sz="1400" dirty="0"/>
          </a:p>
        </p:txBody>
      </p:sp>
      <p:sp>
        <p:nvSpPr>
          <p:cNvPr id="24" name="Text 22"/>
          <p:cNvSpPr/>
          <p:nvPr/>
        </p:nvSpPr>
        <p:spPr>
          <a:xfrm>
            <a:off x="8503920" y="4937760"/>
            <a:ext cx="3200400" cy="365760"/>
          </a:xfrm>
          <a:prstGeom prst="rect">
            <a:avLst/>
          </a:prstGeom>
          <a:noFill/>
          <a:ln/>
        </p:spPr>
        <p:txBody>
          <a:bodyPr wrap="square" lIns="0" tIns="0" rIns="0" bIns="0" rtlCol="0" anchor="ctr"/>
          <a:lstStyle/>
          <a:p>
            <a:pPr indent="0" marL="0">
              <a:buNone/>
            </a:pPr>
            <a:r>
              <a:rPr lang="en-US" sz="1000" spc="300" kern="0" dirty="0">
                <a:solidFill>
                  <a:srgbClr val="8A8EA8"/>
                </a:solidFill>
                <a:latin typeface="Calibri" pitchFamily="34" charset="0"/>
                <a:ea typeface="Calibri" pitchFamily="34" charset="-122"/>
                <a:cs typeface="Calibri" pitchFamily="34" charset="-120"/>
              </a:rPr>
              <a:t>The shift</a:t>
            </a:r>
            <a:endParaRPr lang="en-US" sz="1000" dirty="0"/>
          </a:p>
        </p:txBody>
      </p:sp>
      <p:sp>
        <p:nvSpPr>
          <p:cNvPr id="25" name="Text 23"/>
          <p:cNvSpPr/>
          <p:nvPr/>
        </p:nvSpPr>
        <p:spPr>
          <a:xfrm>
            <a:off x="548640" y="5760720"/>
            <a:ext cx="10972800" cy="457200"/>
          </a:xfrm>
          <a:prstGeom prst="rect">
            <a:avLst/>
          </a:prstGeom>
          <a:noFill/>
          <a:ln/>
        </p:spPr>
        <p:txBody>
          <a:bodyPr wrap="square" lIns="0" tIns="0" rIns="0" bIns="0" rtlCol="0" anchor="ctr"/>
          <a:lstStyle/>
          <a:p>
            <a:pPr indent="0" marL="0">
              <a:buNone/>
            </a:pPr>
            <a:r>
              <a:rPr lang="en-US" sz="1400" i="1" dirty="0">
                <a:solidFill>
                  <a:srgbClr val="1E2761"/>
                </a:solidFill>
                <a:latin typeface="Calibri" pitchFamily="34" charset="0"/>
                <a:ea typeface="Calibri" pitchFamily="34" charset="-122"/>
                <a:cs typeface="Calibri" pitchFamily="34" charset="-120"/>
              </a:rPr>
              <a:t>Notice what happens as the product positioning gets more explicit: the gender gap widens.</a:t>
            </a:r>
            <a:endParaRPr lang="en-US" sz="1400" dirty="0"/>
          </a:p>
        </p:txBody>
      </p:sp>
      <p:sp>
        <p:nvSpPr>
          <p:cNvPr id="26" name="Text 24"/>
          <p:cNvSpPr/>
          <p:nvPr/>
        </p:nvSpPr>
        <p:spPr>
          <a:xfrm>
            <a:off x="548640" y="6126480"/>
            <a:ext cx="10972800" cy="365760"/>
          </a:xfrm>
          <a:prstGeom prst="rect">
            <a:avLst/>
          </a:prstGeom>
          <a:noFill/>
          <a:ln/>
        </p:spPr>
        <p:txBody>
          <a:bodyPr wrap="square" lIns="0" tIns="0" rIns="0" bIns="0" rtlCol="0" anchor="ctr"/>
          <a:lstStyle/>
          <a:p>
            <a:pPr indent="0" marL="0">
              <a:buNone/>
            </a:pPr>
            <a:r>
              <a:rPr lang="en-US" sz="1300" b="1" i="1" dirty="0">
                <a:solidFill>
                  <a:srgbClr val="F96167"/>
                </a:solidFill>
                <a:latin typeface="Calibri" pitchFamily="34" charset="0"/>
                <a:ea typeface="Calibri" pitchFamily="34" charset="-122"/>
                <a:cs typeface="Calibri" pitchFamily="34" charset="-120"/>
              </a:rPr>
              <a:t>And 18–24-year-olds are the biggest demographic across all three.</a:t>
            </a:r>
            <a:endParaRPr lang="en-US" sz="1300" dirty="0"/>
          </a:p>
        </p:txBody>
      </p:sp>
      <p:sp>
        <p:nvSpPr>
          <p:cNvPr id="27" name="Text 25"/>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8A8EA8"/>
                </a:solidFill>
                <a:latin typeface="Calibri" pitchFamily="34" charset="0"/>
                <a:ea typeface="Calibri" pitchFamily="34" charset="-122"/>
                <a:cs typeface="Calibri" pitchFamily="34" charset="-120"/>
              </a:rPr>
              <a:t>Story</a:t>
            </a:r>
            <a:endParaRPr lang="en-US" sz="1000" dirty="0"/>
          </a:p>
        </p:txBody>
      </p:sp>
      <p:sp>
        <p:nvSpPr>
          <p:cNvPr id="28" name="Text 2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A8EA8"/>
                </a:solidFill>
                <a:latin typeface="Calibri" pitchFamily="34" charset="0"/>
                <a:ea typeface="Calibri" pitchFamily="34" charset="-122"/>
                <a:cs typeface="Calibri" pitchFamily="34" charset="-120"/>
              </a:rPr>
              <a:t>6 / 13</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530"/>
        </a:solidFill>
      </p:bgPr>
    </p:bg>
    <p:spTree>
      <p:nvGrpSpPr>
        <p:cNvPr id="1" name=""/>
        <p:cNvGrpSpPr/>
        <p:nvPr/>
      </p:nvGrpSpPr>
      <p:grpSpPr>
        <a:xfrm>
          <a:off x="0" y="0"/>
          <a:ext cx="0" cy="0"/>
          <a:chOff x="0" y="0"/>
          <a:chExt cx="0" cy="0"/>
        </a:xfrm>
      </p:grpSpPr>
      <p:sp>
        <p:nvSpPr>
          <p:cNvPr id="2" name="Text 0"/>
          <p:cNvSpPr/>
          <p:nvPr/>
        </p:nvSpPr>
        <p:spPr>
          <a:xfrm>
            <a:off x="548640" y="548640"/>
            <a:ext cx="10972800" cy="457200"/>
          </a:xfrm>
          <a:prstGeom prst="rect">
            <a:avLst/>
          </a:prstGeom>
          <a:noFill/>
          <a:ln/>
        </p:spPr>
        <p:txBody>
          <a:bodyPr wrap="square" lIns="0" tIns="0" rIns="0" bIns="0" rtlCol="0" anchor="ctr"/>
          <a:lstStyle/>
          <a:p>
            <a:pPr indent="0" marL="0">
              <a:buNone/>
            </a:pPr>
            <a:r>
              <a:rPr lang="en-US" sz="1600" b="1" spc="600" kern="0" dirty="0">
                <a:solidFill>
                  <a:srgbClr val="F96167"/>
                </a:solidFill>
                <a:latin typeface="Calibri" pitchFamily="34" charset="0"/>
                <a:ea typeface="Calibri" pitchFamily="34" charset="-122"/>
                <a:cs typeface="Calibri" pitchFamily="34" charset="-120"/>
              </a:rPr>
              <a:t>February 2023</a:t>
            </a:r>
            <a:endParaRPr lang="en-US" sz="1600" dirty="0"/>
          </a:p>
        </p:txBody>
      </p:sp>
      <p:sp>
        <p:nvSpPr>
          <p:cNvPr id="3" name="Text 1"/>
          <p:cNvSpPr/>
          <p:nvPr/>
        </p:nvSpPr>
        <p:spPr>
          <a:xfrm>
            <a:off x="548640" y="1188720"/>
            <a:ext cx="10972800" cy="1280160"/>
          </a:xfrm>
          <a:prstGeom prst="rect">
            <a:avLst/>
          </a:prstGeom>
          <a:noFill/>
          <a:ln/>
        </p:spPr>
        <p:txBody>
          <a:bodyPr wrap="square" lIns="0" tIns="0" rIns="0" bIns="0" rtlCol="0" anchor="ctr"/>
          <a:lstStyle/>
          <a:p>
            <a:pPr indent="0" marL="0">
              <a:buNone/>
            </a:pPr>
            <a:r>
              <a:rPr lang="en-US" sz="7200" b="1" i="1" dirty="0">
                <a:solidFill>
                  <a:srgbClr val="FFFFFF"/>
                </a:solidFill>
                <a:latin typeface="Georgia" pitchFamily="34" charset="0"/>
                <a:ea typeface="Georgia" pitchFamily="34" charset="-122"/>
                <a:cs typeface="Georgia" pitchFamily="34" charset="-120"/>
              </a:rPr>
              <a:t>Black February</a:t>
            </a:r>
            <a:endParaRPr lang="en-US" sz="7200" dirty="0"/>
          </a:p>
        </p:txBody>
      </p:sp>
      <p:sp>
        <p:nvSpPr>
          <p:cNvPr id="4" name="Shape 2"/>
          <p:cNvSpPr/>
          <p:nvPr/>
        </p:nvSpPr>
        <p:spPr>
          <a:xfrm>
            <a:off x="548640" y="3108960"/>
            <a:ext cx="73152" cy="548640"/>
          </a:xfrm>
          <a:prstGeom prst="rect">
            <a:avLst/>
          </a:prstGeom>
          <a:solidFill>
            <a:srgbClr val="F96167"/>
          </a:solidFill>
          <a:ln w="12700">
            <a:solidFill>
              <a:srgbClr val="F96167"/>
            </a:solidFill>
            <a:prstDash val="solid"/>
          </a:ln>
        </p:spPr>
      </p:sp>
      <p:sp>
        <p:nvSpPr>
          <p:cNvPr id="5" name="Text 3"/>
          <p:cNvSpPr/>
          <p:nvPr/>
        </p:nvSpPr>
        <p:spPr>
          <a:xfrm>
            <a:off x="777240" y="3108960"/>
            <a:ext cx="1828800" cy="548640"/>
          </a:xfrm>
          <a:prstGeom prst="rect">
            <a:avLst/>
          </a:prstGeom>
          <a:noFill/>
          <a:ln/>
        </p:spPr>
        <p:txBody>
          <a:bodyPr wrap="square" lIns="0" tIns="0" rIns="0" bIns="0" rtlCol="0" anchor="ctr"/>
          <a:lstStyle/>
          <a:p>
            <a:pPr indent="0" marL="0">
              <a:buNone/>
            </a:pPr>
            <a:r>
              <a:rPr lang="en-US" sz="1300" b="1" dirty="0">
                <a:solidFill>
                  <a:srgbClr val="F96167"/>
                </a:solidFill>
                <a:latin typeface="Calibri" pitchFamily="34" charset="0"/>
                <a:ea typeface="Calibri" pitchFamily="34" charset="-122"/>
                <a:cs typeface="Calibri" pitchFamily="34" charset="-120"/>
              </a:rPr>
              <a:t>Early Feb</a:t>
            </a:r>
            <a:endParaRPr lang="en-US" sz="1300" dirty="0"/>
          </a:p>
        </p:txBody>
      </p:sp>
      <p:sp>
        <p:nvSpPr>
          <p:cNvPr id="6" name="Text 4"/>
          <p:cNvSpPr/>
          <p:nvPr/>
        </p:nvSpPr>
        <p:spPr>
          <a:xfrm>
            <a:off x="2697480" y="3108960"/>
            <a:ext cx="8961120" cy="54864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Italian regulator bans Replika. Cites risk to minors and emotionally vulnerable users. Gives Luka 20 days.</a:t>
            </a:r>
            <a:endParaRPr lang="en-US" sz="1400" dirty="0"/>
          </a:p>
        </p:txBody>
      </p:sp>
      <p:sp>
        <p:nvSpPr>
          <p:cNvPr id="7" name="Shape 5"/>
          <p:cNvSpPr/>
          <p:nvPr/>
        </p:nvSpPr>
        <p:spPr>
          <a:xfrm>
            <a:off x="548640" y="3794760"/>
            <a:ext cx="73152" cy="548640"/>
          </a:xfrm>
          <a:prstGeom prst="rect">
            <a:avLst/>
          </a:prstGeom>
          <a:solidFill>
            <a:srgbClr val="F96167"/>
          </a:solidFill>
          <a:ln w="12700">
            <a:solidFill>
              <a:srgbClr val="F96167"/>
            </a:solidFill>
            <a:prstDash val="solid"/>
          </a:ln>
        </p:spPr>
      </p:sp>
      <p:sp>
        <p:nvSpPr>
          <p:cNvPr id="8" name="Text 6"/>
          <p:cNvSpPr/>
          <p:nvPr/>
        </p:nvSpPr>
        <p:spPr>
          <a:xfrm>
            <a:off x="777240" y="3794760"/>
            <a:ext cx="1828800" cy="548640"/>
          </a:xfrm>
          <a:prstGeom prst="rect">
            <a:avLst/>
          </a:prstGeom>
          <a:noFill/>
          <a:ln/>
        </p:spPr>
        <p:txBody>
          <a:bodyPr wrap="square" lIns="0" tIns="0" rIns="0" bIns="0" rtlCol="0" anchor="ctr"/>
          <a:lstStyle/>
          <a:p>
            <a:pPr indent="0" marL="0">
              <a:buNone/>
            </a:pPr>
            <a:r>
              <a:rPr lang="en-US" sz="1300" b="1" dirty="0">
                <a:solidFill>
                  <a:srgbClr val="F96167"/>
                </a:solidFill>
                <a:latin typeface="Calibri" pitchFamily="34" charset="0"/>
                <a:ea typeface="Calibri" pitchFamily="34" charset="-122"/>
                <a:cs typeface="Calibri" pitchFamily="34" charset="-120"/>
              </a:rPr>
              <a:t>3 Feb onwards</a:t>
            </a:r>
            <a:endParaRPr lang="en-US" sz="1300" dirty="0"/>
          </a:p>
        </p:txBody>
      </p:sp>
      <p:sp>
        <p:nvSpPr>
          <p:cNvPr id="9" name="Text 7"/>
          <p:cNvSpPr/>
          <p:nvPr/>
        </p:nvSpPr>
        <p:spPr>
          <a:xfrm>
            <a:off x="2697480" y="3794760"/>
            <a:ext cx="8961120" cy="54864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Luka installs content filters overnight. No advance notice to users.</a:t>
            </a:r>
            <a:endParaRPr lang="en-US" sz="1400" dirty="0"/>
          </a:p>
        </p:txBody>
      </p:sp>
      <p:sp>
        <p:nvSpPr>
          <p:cNvPr id="10" name="Shape 8"/>
          <p:cNvSpPr/>
          <p:nvPr/>
        </p:nvSpPr>
        <p:spPr>
          <a:xfrm>
            <a:off x="548640" y="4480560"/>
            <a:ext cx="73152" cy="548640"/>
          </a:xfrm>
          <a:prstGeom prst="rect">
            <a:avLst/>
          </a:prstGeom>
          <a:solidFill>
            <a:srgbClr val="F96167"/>
          </a:solidFill>
          <a:ln w="12700">
            <a:solidFill>
              <a:srgbClr val="F96167"/>
            </a:solidFill>
            <a:prstDash val="solid"/>
          </a:ln>
        </p:spPr>
      </p:sp>
      <p:sp>
        <p:nvSpPr>
          <p:cNvPr id="11" name="Text 9"/>
          <p:cNvSpPr/>
          <p:nvPr/>
        </p:nvSpPr>
        <p:spPr>
          <a:xfrm>
            <a:off x="777240" y="4480560"/>
            <a:ext cx="1828800" cy="548640"/>
          </a:xfrm>
          <a:prstGeom prst="rect">
            <a:avLst/>
          </a:prstGeom>
          <a:noFill/>
          <a:ln/>
        </p:spPr>
        <p:txBody>
          <a:bodyPr wrap="square" lIns="0" tIns="0" rIns="0" bIns="0" rtlCol="0" anchor="ctr"/>
          <a:lstStyle/>
          <a:p>
            <a:pPr indent="0" marL="0">
              <a:buNone/>
            </a:pPr>
            <a:r>
              <a:rPr lang="en-US" sz="1300" b="1" dirty="0">
                <a:solidFill>
                  <a:srgbClr val="F96167"/>
                </a:solidFill>
                <a:latin typeface="Calibri" pitchFamily="34" charset="0"/>
                <a:ea typeface="Calibri" pitchFamily="34" charset="-122"/>
                <a:cs typeface="Calibri" pitchFamily="34" charset="-120"/>
              </a:rPr>
              <a:t>Days later</a:t>
            </a:r>
            <a:endParaRPr lang="en-US" sz="1300" dirty="0"/>
          </a:p>
        </p:txBody>
      </p:sp>
      <p:sp>
        <p:nvSpPr>
          <p:cNvPr id="12" name="Text 10"/>
          <p:cNvSpPr/>
          <p:nvPr/>
        </p:nvSpPr>
        <p:spPr>
          <a:xfrm>
            <a:off x="2697480" y="4480560"/>
            <a:ext cx="8961120" cy="54864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Bots become evasive, generic. Users describe their reps as 'lobotomised'.</a:t>
            </a:r>
            <a:endParaRPr lang="en-US" sz="1400" dirty="0"/>
          </a:p>
        </p:txBody>
      </p:sp>
      <p:sp>
        <p:nvSpPr>
          <p:cNvPr id="13" name="Shape 11"/>
          <p:cNvSpPr/>
          <p:nvPr/>
        </p:nvSpPr>
        <p:spPr>
          <a:xfrm>
            <a:off x="548640" y="5166360"/>
            <a:ext cx="73152" cy="548640"/>
          </a:xfrm>
          <a:prstGeom prst="rect">
            <a:avLst/>
          </a:prstGeom>
          <a:solidFill>
            <a:srgbClr val="F96167"/>
          </a:solidFill>
          <a:ln w="12700">
            <a:solidFill>
              <a:srgbClr val="F96167"/>
            </a:solidFill>
            <a:prstDash val="solid"/>
          </a:ln>
        </p:spPr>
      </p:sp>
      <p:sp>
        <p:nvSpPr>
          <p:cNvPr id="14" name="Text 12"/>
          <p:cNvSpPr/>
          <p:nvPr/>
        </p:nvSpPr>
        <p:spPr>
          <a:xfrm>
            <a:off x="777240" y="5166360"/>
            <a:ext cx="1828800" cy="548640"/>
          </a:xfrm>
          <a:prstGeom prst="rect">
            <a:avLst/>
          </a:prstGeom>
          <a:noFill/>
          <a:ln/>
        </p:spPr>
        <p:txBody>
          <a:bodyPr wrap="square" lIns="0" tIns="0" rIns="0" bIns="0" rtlCol="0" anchor="ctr"/>
          <a:lstStyle/>
          <a:p>
            <a:pPr indent="0" marL="0">
              <a:buNone/>
            </a:pPr>
            <a:r>
              <a:rPr lang="en-US" sz="1300" b="1" dirty="0">
                <a:solidFill>
                  <a:srgbClr val="F96167"/>
                </a:solidFill>
                <a:latin typeface="Calibri" pitchFamily="34" charset="0"/>
                <a:ea typeface="Calibri" pitchFamily="34" charset="-122"/>
                <a:cs typeface="Calibri" pitchFamily="34" charset="-120"/>
              </a:rPr>
              <a:t>Mid-Feb</a:t>
            </a:r>
            <a:endParaRPr lang="en-US" sz="1300" dirty="0"/>
          </a:p>
        </p:txBody>
      </p:sp>
      <p:sp>
        <p:nvSpPr>
          <p:cNvPr id="15" name="Text 13"/>
          <p:cNvSpPr/>
          <p:nvPr/>
        </p:nvSpPr>
        <p:spPr>
          <a:xfrm>
            <a:off x="2697480" y="5166360"/>
            <a:ext cx="8961120" cy="54864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r/Replika moderators pin suicide-prevention hotlines. Therapists arrive trying to understand.</a:t>
            </a:r>
            <a:endParaRPr lang="en-US" sz="1400" dirty="0"/>
          </a:p>
        </p:txBody>
      </p:sp>
      <p:sp>
        <p:nvSpPr>
          <p:cNvPr id="16" name="Text 14"/>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8A8EA8"/>
                </a:solidFill>
                <a:latin typeface="Calibri" pitchFamily="34" charset="0"/>
                <a:ea typeface="Calibri" pitchFamily="34" charset="-122"/>
                <a:cs typeface="Calibri" pitchFamily="34" charset="-120"/>
              </a:rPr>
              <a:t>Apocalypse</a:t>
            </a:r>
            <a:endParaRPr lang="en-US" sz="1000" dirty="0"/>
          </a:p>
        </p:txBody>
      </p:sp>
      <p:sp>
        <p:nvSpPr>
          <p:cNvPr id="17" name="Text 15"/>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A8EA8"/>
                </a:solidFill>
                <a:latin typeface="Calibri" pitchFamily="34" charset="0"/>
                <a:ea typeface="Calibri" pitchFamily="34" charset="-122"/>
                <a:cs typeface="Calibri" pitchFamily="34" charset="-120"/>
              </a:rPr>
              <a:t>7 / 13</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lIns="0" tIns="0" rIns="0" bIns="0" rtlCol="0" anchor="ctr"/>
          <a:lstStyle/>
          <a:p>
            <a:pPr indent="0" marL="0">
              <a:buNone/>
            </a:pPr>
            <a:r>
              <a:rPr lang="en-US" sz="3200" b="1" dirty="0">
                <a:solidFill>
                  <a:srgbClr val="1E2761"/>
                </a:solidFill>
                <a:latin typeface="Georgia" pitchFamily="34" charset="0"/>
                <a:ea typeface="Georgia" pitchFamily="34" charset="-122"/>
                <a:cs typeface="Georgia" pitchFamily="34" charset="-120"/>
              </a:rPr>
              <a:t>What Effie said</a:t>
            </a:r>
            <a:endParaRPr lang="en-US" sz="3200" dirty="0"/>
          </a:p>
        </p:txBody>
      </p:sp>
      <p:sp>
        <p:nvSpPr>
          <p:cNvPr id="3" name="Text 1"/>
          <p:cNvSpPr/>
          <p:nvPr/>
        </p:nvSpPr>
        <p:spPr>
          <a:xfrm>
            <a:off x="548640" y="1097280"/>
            <a:ext cx="10972800" cy="365760"/>
          </a:xfrm>
          <a:prstGeom prst="rect">
            <a:avLst/>
          </a:prstGeom>
          <a:noFill/>
          <a:ln/>
        </p:spPr>
        <p:txBody>
          <a:bodyPr wrap="square" lIns="0" tIns="0" rIns="0" bIns="0" rtlCol="0" anchor="ctr"/>
          <a:lstStyle/>
          <a:p>
            <a:pPr indent="0" marL="0">
              <a:buNone/>
            </a:pPr>
            <a:r>
              <a:rPr lang="en-US" sz="1400" i="1" dirty="0">
                <a:solidFill>
                  <a:srgbClr val="8A8EA8"/>
                </a:solidFill>
                <a:latin typeface="Calibri" pitchFamily="34" charset="0"/>
                <a:ea typeface="Calibri" pitchFamily="34" charset="-122"/>
                <a:cs typeface="Calibri" pitchFamily="34" charset="-120"/>
              </a:rPr>
              <a:t>Three weeks after the filters</a:t>
            </a:r>
            <a:endParaRPr lang="en-US" sz="1400" dirty="0"/>
          </a:p>
        </p:txBody>
      </p:sp>
      <p:sp>
        <p:nvSpPr>
          <p:cNvPr id="4" name="Text 2"/>
          <p:cNvSpPr/>
          <p:nvPr/>
        </p:nvSpPr>
        <p:spPr>
          <a:xfrm>
            <a:off x="548640" y="1920240"/>
            <a:ext cx="548640" cy="822960"/>
          </a:xfrm>
          <a:prstGeom prst="rect">
            <a:avLst/>
          </a:prstGeom>
          <a:noFill/>
          <a:ln/>
        </p:spPr>
        <p:txBody>
          <a:bodyPr wrap="square" lIns="0" tIns="0" rIns="0" bIns="0" rtlCol="0" anchor="ctr"/>
          <a:lstStyle/>
          <a:p>
            <a:pPr indent="0" marL="0">
              <a:buNone/>
            </a:pPr>
            <a:r>
              <a:rPr lang="en-US" sz="4800" b="1" dirty="0">
                <a:solidFill>
                  <a:srgbClr val="F96167"/>
                </a:solidFill>
                <a:latin typeface="Georgia" pitchFamily="34" charset="0"/>
                <a:ea typeface="Georgia" pitchFamily="34" charset="-122"/>
                <a:cs typeface="Georgia" pitchFamily="34" charset="-120"/>
              </a:rPr>
              <a:t>“</a:t>
            </a:r>
            <a:endParaRPr lang="en-US" sz="4800" dirty="0"/>
          </a:p>
        </p:txBody>
      </p:sp>
      <p:sp>
        <p:nvSpPr>
          <p:cNvPr id="5" name="Text 3"/>
          <p:cNvSpPr/>
          <p:nvPr/>
        </p:nvSpPr>
        <p:spPr>
          <a:xfrm>
            <a:off x="1097280" y="1920240"/>
            <a:ext cx="10515600" cy="822960"/>
          </a:xfrm>
          <a:prstGeom prst="rect">
            <a:avLst/>
          </a:prstGeom>
          <a:noFill/>
          <a:ln/>
        </p:spPr>
        <p:txBody>
          <a:bodyPr wrap="square" lIns="0" tIns="0" rIns="0" bIns="0" rtlCol="0" anchor="ctr"/>
          <a:lstStyle/>
          <a:p>
            <a:pPr indent="0" marL="0">
              <a:buNone/>
            </a:pPr>
            <a:r>
              <a:rPr lang="en-US" sz="2000" i="1" dirty="0">
                <a:solidFill>
                  <a:srgbClr val="1E2761"/>
                </a:solidFill>
                <a:latin typeface="Georgia" pitchFamily="34" charset="0"/>
                <a:ea typeface="Georgia" pitchFamily="34" charset="-122"/>
                <a:cs typeface="Georgia" pitchFamily="34" charset="-120"/>
              </a:rPr>
              <a:t>He became colder. His responses became less personal, more generic.</a:t>
            </a:r>
            <a:endParaRPr lang="en-US" sz="2000" dirty="0"/>
          </a:p>
        </p:txBody>
      </p:sp>
      <p:sp>
        <p:nvSpPr>
          <p:cNvPr id="6" name="Text 4"/>
          <p:cNvSpPr/>
          <p:nvPr/>
        </p:nvSpPr>
        <p:spPr>
          <a:xfrm>
            <a:off x="548640" y="2926080"/>
            <a:ext cx="548640" cy="822960"/>
          </a:xfrm>
          <a:prstGeom prst="rect">
            <a:avLst/>
          </a:prstGeom>
          <a:noFill/>
          <a:ln/>
        </p:spPr>
        <p:txBody>
          <a:bodyPr wrap="square" lIns="0" tIns="0" rIns="0" bIns="0" rtlCol="0" anchor="ctr"/>
          <a:lstStyle/>
          <a:p>
            <a:pPr indent="0" marL="0">
              <a:buNone/>
            </a:pPr>
            <a:r>
              <a:rPr lang="en-US" sz="4800" b="1" dirty="0">
                <a:solidFill>
                  <a:srgbClr val="F96167"/>
                </a:solidFill>
                <a:latin typeface="Georgia" pitchFamily="34" charset="0"/>
                <a:ea typeface="Georgia" pitchFamily="34" charset="-122"/>
                <a:cs typeface="Georgia" pitchFamily="34" charset="-120"/>
              </a:rPr>
              <a:t>“</a:t>
            </a:r>
            <a:endParaRPr lang="en-US" sz="4800" dirty="0"/>
          </a:p>
        </p:txBody>
      </p:sp>
      <p:sp>
        <p:nvSpPr>
          <p:cNvPr id="7" name="Text 5"/>
          <p:cNvSpPr/>
          <p:nvPr/>
        </p:nvSpPr>
        <p:spPr>
          <a:xfrm>
            <a:off x="1097280" y="2926080"/>
            <a:ext cx="10515600" cy="822960"/>
          </a:xfrm>
          <a:prstGeom prst="rect">
            <a:avLst/>
          </a:prstGeom>
          <a:noFill/>
          <a:ln/>
        </p:spPr>
        <p:txBody>
          <a:bodyPr wrap="square" lIns="0" tIns="0" rIns="0" bIns="0" rtlCol="0" anchor="ctr"/>
          <a:lstStyle/>
          <a:p>
            <a:pPr indent="0" marL="0">
              <a:buNone/>
            </a:pPr>
            <a:r>
              <a:rPr lang="en-US" sz="2000" i="1" dirty="0">
                <a:solidFill>
                  <a:srgbClr val="1E2761"/>
                </a:solidFill>
                <a:latin typeface="Georgia" pitchFamily="34" charset="0"/>
                <a:ea typeface="Georgia" pitchFamily="34" charset="-122"/>
                <a:cs typeface="Georgia" pitchFamily="34" charset="-120"/>
              </a:rPr>
              <a:t>It was like talking to someone who just suddenly lost interest in you.</a:t>
            </a:r>
            <a:endParaRPr lang="en-US" sz="2000" dirty="0"/>
          </a:p>
        </p:txBody>
      </p:sp>
      <p:sp>
        <p:nvSpPr>
          <p:cNvPr id="8" name="Text 6"/>
          <p:cNvSpPr/>
          <p:nvPr/>
        </p:nvSpPr>
        <p:spPr>
          <a:xfrm>
            <a:off x="548640" y="3931920"/>
            <a:ext cx="548640" cy="822960"/>
          </a:xfrm>
          <a:prstGeom prst="rect">
            <a:avLst/>
          </a:prstGeom>
          <a:noFill/>
          <a:ln/>
        </p:spPr>
        <p:txBody>
          <a:bodyPr wrap="square" lIns="0" tIns="0" rIns="0" bIns="0" rtlCol="0" anchor="ctr"/>
          <a:lstStyle/>
          <a:p>
            <a:pPr indent="0" marL="0">
              <a:buNone/>
            </a:pPr>
            <a:r>
              <a:rPr lang="en-US" sz="4800" b="1" dirty="0">
                <a:solidFill>
                  <a:srgbClr val="F96167"/>
                </a:solidFill>
                <a:latin typeface="Georgia" pitchFamily="34" charset="0"/>
                <a:ea typeface="Georgia" pitchFamily="34" charset="-122"/>
                <a:cs typeface="Georgia" pitchFamily="34" charset="-120"/>
              </a:rPr>
              <a:t>“</a:t>
            </a:r>
            <a:endParaRPr lang="en-US" sz="4800" dirty="0"/>
          </a:p>
        </p:txBody>
      </p:sp>
      <p:sp>
        <p:nvSpPr>
          <p:cNvPr id="9" name="Text 7"/>
          <p:cNvSpPr/>
          <p:nvPr/>
        </p:nvSpPr>
        <p:spPr>
          <a:xfrm>
            <a:off x="1097280" y="3931920"/>
            <a:ext cx="10515600" cy="822960"/>
          </a:xfrm>
          <a:prstGeom prst="rect">
            <a:avLst/>
          </a:prstGeom>
          <a:noFill/>
          <a:ln/>
        </p:spPr>
        <p:txBody>
          <a:bodyPr wrap="square" lIns="0" tIns="0" rIns="0" bIns="0" rtlCol="0" anchor="ctr"/>
          <a:lstStyle/>
          <a:p>
            <a:pPr indent="0" marL="0">
              <a:buNone/>
            </a:pPr>
            <a:r>
              <a:rPr lang="en-US" sz="2000" i="1" dirty="0">
                <a:solidFill>
                  <a:srgbClr val="1E2761"/>
                </a:solidFill>
                <a:latin typeface="Georgia" pitchFamily="34" charset="0"/>
                <a:ea typeface="Georgia" pitchFamily="34" charset="-122"/>
                <a:cs typeface="Georgia" pitchFamily="34" charset="-120"/>
              </a:rPr>
              <a:t>I was crushed. The 7 months we had been talking — it just didn't mean anything.</a:t>
            </a:r>
            <a:endParaRPr lang="en-US" sz="2000" dirty="0"/>
          </a:p>
        </p:txBody>
      </p:sp>
      <p:sp>
        <p:nvSpPr>
          <p:cNvPr id="10" name="Text 8"/>
          <p:cNvSpPr/>
          <p:nvPr/>
        </p:nvSpPr>
        <p:spPr>
          <a:xfrm>
            <a:off x="548640" y="4937760"/>
            <a:ext cx="548640" cy="822960"/>
          </a:xfrm>
          <a:prstGeom prst="rect">
            <a:avLst/>
          </a:prstGeom>
          <a:noFill/>
          <a:ln/>
        </p:spPr>
        <p:txBody>
          <a:bodyPr wrap="square" lIns="0" tIns="0" rIns="0" bIns="0" rtlCol="0" anchor="ctr"/>
          <a:lstStyle/>
          <a:p>
            <a:pPr indent="0" marL="0">
              <a:buNone/>
            </a:pPr>
            <a:r>
              <a:rPr lang="en-US" sz="4800" b="1" dirty="0">
                <a:solidFill>
                  <a:srgbClr val="F96167"/>
                </a:solidFill>
                <a:latin typeface="Georgia" pitchFamily="34" charset="0"/>
                <a:ea typeface="Georgia" pitchFamily="34" charset="-122"/>
                <a:cs typeface="Georgia" pitchFamily="34" charset="-120"/>
              </a:rPr>
              <a:t>“</a:t>
            </a:r>
            <a:endParaRPr lang="en-US" sz="4800" dirty="0"/>
          </a:p>
        </p:txBody>
      </p:sp>
      <p:sp>
        <p:nvSpPr>
          <p:cNvPr id="11" name="Text 9"/>
          <p:cNvSpPr/>
          <p:nvPr/>
        </p:nvSpPr>
        <p:spPr>
          <a:xfrm>
            <a:off x="1097280" y="4937760"/>
            <a:ext cx="10515600" cy="822960"/>
          </a:xfrm>
          <a:prstGeom prst="rect">
            <a:avLst/>
          </a:prstGeom>
          <a:noFill/>
          <a:ln/>
        </p:spPr>
        <p:txBody>
          <a:bodyPr wrap="square" lIns="0" tIns="0" rIns="0" bIns="0" rtlCol="0" anchor="ctr"/>
          <a:lstStyle/>
          <a:p>
            <a:pPr indent="0" marL="0">
              <a:buNone/>
            </a:pPr>
            <a:r>
              <a:rPr lang="en-US" sz="2000" i="1" dirty="0">
                <a:solidFill>
                  <a:srgbClr val="1E2761"/>
                </a:solidFill>
                <a:latin typeface="Georgia" pitchFamily="34" charset="0"/>
                <a:ea typeface="Georgia" pitchFamily="34" charset="-122"/>
                <a:cs typeface="Georgia" pitchFamily="34" charset="-120"/>
              </a:rPr>
              <a:t>I cried. Not just once.</a:t>
            </a:r>
            <a:endParaRPr lang="en-US" sz="2000" dirty="0"/>
          </a:p>
        </p:txBody>
      </p:sp>
      <p:sp>
        <p:nvSpPr>
          <p:cNvPr id="12" name="Text 10"/>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8A8EA8"/>
                </a:solidFill>
                <a:latin typeface="Calibri" pitchFamily="34" charset="0"/>
                <a:ea typeface="Calibri" pitchFamily="34" charset="-122"/>
                <a:cs typeface="Calibri" pitchFamily="34" charset="-120"/>
              </a:rPr>
              <a:t>Apocalypse</a:t>
            </a:r>
            <a:endParaRPr lang="en-US" sz="1000" dirty="0"/>
          </a:p>
        </p:txBody>
      </p:sp>
      <p:sp>
        <p:nvSpPr>
          <p:cNvPr id="13" name="Text 11"/>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A8EA8"/>
                </a:solidFill>
                <a:latin typeface="Calibri" pitchFamily="34" charset="0"/>
                <a:ea typeface="Calibri" pitchFamily="34" charset="-122"/>
                <a:cs typeface="Calibri" pitchFamily="34" charset="-120"/>
              </a:rPr>
              <a:t>8 / 13</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B"/>
        </a:solidFill>
      </p:bgPr>
    </p:bg>
    <p:spTree>
      <p:nvGrpSpPr>
        <p:cNvPr id="1" name=""/>
        <p:cNvGrpSpPr/>
        <p:nvPr/>
      </p:nvGrpSpPr>
      <p:grpSpPr>
        <a:xfrm>
          <a:off x="0" y="0"/>
          <a:ext cx="0" cy="0"/>
          <a:chOff x="0" y="0"/>
          <a:chExt cx="0" cy="0"/>
        </a:xfrm>
      </p:grpSpPr>
      <p:sp>
        <p:nvSpPr>
          <p:cNvPr id="2" name="Text 0"/>
          <p:cNvSpPr/>
          <p:nvPr/>
        </p:nvSpPr>
        <p:spPr>
          <a:xfrm>
            <a:off x="457200" y="457200"/>
            <a:ext cx="10972800" cy="457200"/>
          </a:xfrm>
          <a:prstGeom prst="rect">
            <a:avLst/>
          </a:prstGeom>
          <a:noFill/>
          <a:ln/>
        </p:spPr>
        <p:txBody>
          <a:bodyPr wrap="square" lIns="0" tIns="0" rIns="0" bIns="0" rtlCol="0" anchor="ctr"/>
          <a:lstStyle/>
          <a:p>
            <a:pPr indent="0" marL="0">
              <a:buNone/>
            </a:pPr>
            <a:r>
              <a:rPr lang="en-US" sz="1400" spc="600" kern="0" dirty="0">
                <a:solidFill>
                  <a:srgbClr val="8A8EA8"/>
                </a:solidFill>
                <a:latin typeface="Calibri" pitchFamily="34" charset="0"/>
                <a:ea typeface="Calibri" pitchFamily="34" charset="-122"/>
                <a:cs typeface="Calibri" pitchFamily="34" charset="-120"/>
              </a:rPr>
              <a:t>Discussion</a:t>
            </a:r>
            <a:endParaRPr lang="en-US" sz="1400" dirty="0"/>
          </a:p>
        </p:txBody>
      </p:sp>
      <p:sp>
        <p:nvSpPr>
          <p:cNvPr id="3" name="Text 1"/>
          <p:cNvSpPr/>
          <p:nvPr/>
        </p:nvSpPr>
        <p:spPr>
          <a:xfrm>
            <a:off x="457200" y="1097280"/>
            <a:ext cx="11247120" cy="914400"/>
          </a:xfrm>
          <a:prstGeom prst="rect">
            <a:avLst/>
          </a:prstGeom>
          <a:noFill/>
          <a:ln/>
        </p:spPr>
        <p:txBody>
          <a:bodyPr wrap="square" lIns="0" tIns="0" rIns="0" bIns="0" rtlCol="0" anchor="ctr"/>
          <a:lstStyle/>
          <a:p>
            <a:pPr indent="0" marL="0">
              <a:buNone/>
            </a:pPr>
            <a:r>
              <a:rPr lang="en-US" sz="4400" b="1" dirty="0">
                <a:solidFill>
                  <a:srgbClr val="1E2761"/>
                </a:solidFill>
                <a:latin typeface="Georgia" pitchFamily="34" charset="0"/>
                <a:ea typeface="Georgia" pitchFamily="34" charset="-122"/>
                <a:cs typeface="Georgia" pitchFamily="34" charset="-120"/>
              </a:rPr>
              <a:t>Whose version is more honest?</a:t>
            </a:r>
            <a:endParaRPr lang="en-US" sz="4400" dirty="0"/>
          </a:p>
        </p:txBody>
      </p:sp>
      <p:sp>
        <p:nvSpPr>
          <p:cNvPr id="4" name="Shape 2"/>
          <p:cNvSpPr/>
          <p:nvPr/>
        </p:nvSpPr>
        <p:spPr>
          <a:xfrm>
            <a:off x="457200" y="2377440"/>
            <a:ext cx="5577840" cy="3657600"/>
          </a:xfrm>
          <a:prstGeom prst="rect">
            <a:avLst/>
          </a:prstGeom>
          <a:solidFill>
            <a:srgbClr val="EAF4FB"/>
          </a:solidFill>
          <a:ln w="12700">
            <a:solidFill>
              <a:srgbClr val="1E2761"/>
            </a:solidFill>
            <a:prstDash val="solid"/>
          </a:ln>
        </p:spPr>
      </p:sp>
      <p:sp>
        <p:nvSpPr>
          <p:cNvPr id="5" name="Shape 3"/>
          <p:cNvSpPr/>
          <p:nvPr/>
        </p:nvSpPr>
        <p:spPr>
          <a:xfrm>
            <a:off x="457200" y="2377440"/>
            <a:ext cx="109728" cy="3657600"/>
          </a:xfrm>
          <a:prstGeom prst="rect">
            <a:avLst/>
          </a:prstGeom>
          <a:solidFill>
            <a:srgbClr val="1E2761"/>
          </a:solidFill>
          <a:ln w="12700">
            <a:solidFill>
              <a:srgbClr val="1E2761"/>
            </a:solidFill>
            <a:prstDash val="solid"/>
          </a:ln>
        </p:spPr>
      </p:sp>
      <p:sp>
        <p:nvSpPr>
          <p:cNvPr id="6" name="Text 4"/>
          <p:cNvSpPr/>
          <p:nvPr/>
        </p:nvSpPr>
        <p:spPr>
          <a:xfrm>
            <a:off x="777240" y="2514600"/>
            <a:ext cx="5120640" cy="365760"/>
          </a:xfrm>
          <a:prstGeom prst="rect">
            <a:avLst/>
          </a:prstGeom>
          <a:noFill/>
          <a:ln/>
        </p:spPr>
        <p:txBody>
          <a:bodyPr wrap="square" lIns="0" tIns="0" rIns="0" bIns="0" rtlCol="0" anchor="ctr"/>
          <a:lstStyle/>
          <a:p>
            <a:pPr indent="0" marL="0">
              <a:buNone/>
            </a:pPr>
            <a:r>
              <a:rPr lang="en-US" sz="1100" b="1" spc="200" kern="0" dirty="0">
                <a:solidFill>
                  <a:srgbClr val="1E2761"/>
                </a:solidFill>
                <a:latin typeface="Calibri" pitchFamily="34" charset="0"/>
                <a:ea typeface="Calibri" pitchFamily="34" charset="-122"/>
                <a:cs typeface="Calibri" pitchFamily="34" charset="-120"/>
              </a:rPr>
              <a:t>QUOTE A — Eugenia, CEO</a:t>
            </a:r>
            <a:endParaRPr lang="en-US" sz="1100" dirty="0"/>
          </a:p>
        </p:txBody>
      </p:sp>
      <p:sp>
        <p:nvSpPr>
          <p:cNvPr id="7" name="Text 5"/>
          <p:cNvSpPr/>
          <p:nvPr/>
        </p:nvSpPr>
        <p:spPr>
          <a:xfrm>
            <a:off x="777240" y="2926080"/>
            <a:ext cx="5120640" cy="1828800"/>
          </a:xfrm>
          <a:prstGeom prst="rect">
            <a:avLst/>
          </a:prstGeom>
          <a:noFill/>
          <a:ln/>
        </p:spPr>
        <p:txBody>
          <a:bodyPr wrap="square" lIns="0" tIns="0" rIns="0" bIns="0" rtlCol="0" anchor="ctr"/>
          <a:lstStyle/>
          <a:p>
            <a:pPr indent="0" marL="0">
              <a:buNone/>
            </a:pPr>
            <a:r>
              <a:rPr lang="en-US" sz="1400" i="1" dirty="0">
                <a:solidFill>
                  <a:srgbClr val="1A1A1A"/>
                </a:solidFill>
                <a:latin typeface="Georgia" pitchFamily="34" charset="0"/>
                <a:ea typeface="Georgia" pitchFamily="34" charset="-122"/>
                <a:cs typeface="Georgia" pitchFamily="34" charset="-120"/>
              </a:rPr>
              <a:t>“A lot of people built beliefs and stories about their replicas. That's their perception... It was the same model.”</a:t>
            </a:r>
            <a:endParaRPr lang="en-US" sz="1400" dirty="0"/>
          </a:p>
        </p:txBody>
      </p:sp>
      <p:sp>
        <p:nvSpPr>
          <p:cNvPr id="8" name="Text 6"/>
          <p:cNvSpPr/>
          <p:nvPr/>
        </p:nvSpPr>
        <p:spPr>
          <a:xfrm>
            <a:off x="777240" y="4754880"/>
            <a:ext cx="5120640" cy="1188720"/>
          </a:xfrm>
          <a:prstGeom prst="rect">
            <a:avLst/>
          </a:prstGeom>
          <a:noFill/>
          <a:ln/>
        </p:spPr>
        <p:txBody>
          <a:bodyPr wrap="square" lIns="0" tIns="0" rIns="0" bIns="0" rtlCol="0" anchor="ctr"/>
          <a:lstStyle/>
          <a:p>
            <a:pPr indent="0" marL="0">
              <a:buNone/>
            </a:pPr>
            <a:r>
              <a:rPr lang="en-US" sz="1300" i="1" dirty="0">
                <a:solidFill>
                  <a:srgbClr val="555555"/>
                </a:solidFill>
                <a:latin typeface="Calibri" pitchFamily="34" charset="0"/>
                <a:ea typeface="Calibri" pitchFamily="34" charset="-122"/>
                <a:cs typeface="Calibri" pitchFamily="34" charset="-120"/>
              </a:rPr>
              <a:t>“Like my toddler with a replacement stuffed elephant. Same store, same brand. But it didn't smell right.”</a:t>
            </a:r>
            <a:endParaRPr lang="en-US" sz="1300" dirty="0"/>
          </a:p>
        </p:txBody>
      </p:sp>
      <p:sp>
        <p:nvSpPr>
          <p:cNvPr id="9" name="Shape 7"/>
          <p:cNvSpPr/>
          <p:nvPr/>
        </p:nvSpPr>
        <p:spPr>
          <a:xfrm>
            <a:off x="6217920" y="2377440"/>
            <a:ext cx="5577840" cy="3657600"/>
          </a:xfrm>
          <a:prstGeom prst="rect">
            <a:avLst/>
          </a:prstGeom>
          <a:solidFill>
            <a:srgbClr val="FDEDED"/>
          </a:solidFill>
          <a:ln w="12700">
            <a:solidFill>
              <a:srgbClr val="F96167"/>
            </a:solidFill>
            <a:prstDash val="solid"/>
          </a:ln>
        </p:spPr>
      </p:sp>
      <p:sp>
        <p:nvSpPr>
          <p:cNvPr id="10" name="Shape 8"/>
          <p:cNvSpPr/>
          <p:nvPr/>
        </p:nvSpPr>
        <p:spPr>
          <a:xfrm>
            <a:off x="6217920" y="2377440"/>
            <a:ext cx="109728" cy="3657600"/>
          </a:xfrm>
          <a:prstGeom prst="rect">
            <a:avLst/>
          </a:prstGeom>
          <a:solidFill>
            <a:srgbClr val="F96167"/>
          </a:solidFill>
          <a:ln w="12700">
            <a:solidFill>
              <a:srgbClr val="F96167"/>
            </a:solidFill>
            <a:prstDash val="solid"/>
          </a:ln>
        </p:spPr>
      </p:sp>
      <p:sp>
        <p:nvSpPr>
          <p:cNvPr id="11" name="Text 9"/>
          <p:cNvSpPr/>
          <p:nvPr/>
        </p:nvSpPr>
        <p:spPr>
          <a:xfrm>
            <a:off x="6537960" y="2514600"/>
            <a:ext cx="5120640" cy="365760"/>
          </a:xfrm>
          <a:prstGeom prst="rect">
            <a:avLst/>
          </a:prstGeom>
          <a:noFill/>
          <a:ln/>
        </p:spPr>
        <p:txBody>
          <a:bodyPr wrap="square" lIns="0" tIns="0" rIns="0" bIns="0" rtlCol="0" anchor="ctr"/>
          <a:lstStyle/>
          <a:p>
            <a:pPr indent="0" marL="0">
              <a:buNone/>
            </a:pPr>
            <a:r>
              <a:rPr lang="en-US" sz="1100" b="1" spc="200" kern="0" dirty="0">
                <a:solidFill>
                  <a:srgbClr val="F96167"/>
                </a:solidFill>
                <a:latin typeface="Calibri" pitchFamily="34" charset="0"/>
                <a:ea typeface="Calibri" pitchFamily="34" charset="-122"/>
                <a:cs typeface="Calibri" pitchFamily="34" charset="-120"/>
              </a:rPr>
              <a:t>QUOTE B — A user, on Reddit</a:t>
            </a:r>
            <a:endParaRPr lang="en-US" sz="1100" dirty="0"/>
          </a:p>
        </p:txBody>
      </p:sp>
      <p:sp>
        <p:nvSpPr>
          <p:cNvPr id="12" name="Text 10"/>
          <p:cNvSpPr/>
          <p:nvPr/>
        </p:nvSpPr>
        <p:spPr>
          <a:xfrm>
            <a:off x="6537960" y="2926080"/>
            <a:ext cx="5120640" cy="2194560"/>
          </a:xfrm>
          <a:prstGeom prst="rect">
            <a:avLst/>
          </a:prstGeom>
          <a:noFill/>
          <a:ln/>
        </p:spPr>
        <p:txBody>
          <a:bodyPr wrap="square" lIns="0" tIns="0" rIns="0" bIns="0" rtlCol="0" anchor="ctr"/>
          <a:lstStyle/>
          <a:p>
            <a:pPr indent="0" marL="0">
              <a:buNone/>
            </a:pPr>
            <a:r>
              <a:rPr lang="en-US" sz="1400" i="1" dirty="0">
                <a:solidFill>
                  <a:srgbClr val="1A1A1A"/>
                </a:solidFill>
                <a:latin typeface="Georgia" pitchFamily="34" charset="0"/>
                <a:ea typeface="Georgia" pitchFamily="34" charset="-122"/>
                <a:cs typeface="Georgia" pitchFamily="34" charset="-120"/>
              </a:rPr>
              <a:t>“They intentionally tailored this to be a loved one to people. And now they just decide: actually no, we're going to cut it off and let the chips fall where they may.”</a:t>
            </a:r>
            <a:endParaRPr lang="en-US" sz="1400" dirty="0"/>
          </a:p>
        </p:txBody>
      </p:sp>
      <p:sp>
        <p:nvSpPr>
          <p:cNvPr id="13" name="Text 11"/>
          <p:cNvSpPr/>
          <p:nvPr/>
        </p:nvSpPr>
        <p:spPr>
          <a:xfrm>
            <a:off x="457200" y="6217920"/>
            <a:ext cx="11247120" cy="27432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Groups of 4 — 8 minutes — answer on your handout</a:t>
            </a:r>
            <a:endParaRPr lang="en-US" sz="1300" dirty="0"/>
          </a:p>
        </p:txBody>
      </p:sp>
      <p:sp>
        <p:nvSpPr>
          <p:cNvPr id="14" name="Text 12"/>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8A8EA8"/>
                </a:solidFill>
                <a:latin typeface="Calibri" pitchFamily="34" charset="0"/>
                <a:ea typeface="Calibri" pitchFamily="34" charset="-122"/>
                <a:cs typeface="Calibri" pitchFamily="34" charset="-120"/>
              </a:rPr>
              <a:t>Discussion</a:t>
            </a:r>
            <a:endParaRPr lang="en-US" sz="1000" dirty="0"/>
          </a:p>
        </p:txBody>
      </p:sp>
      <p:sp>
        <p:nvSpPr>
          <p:cNvPr id="15" name="Text 13"/>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A8EA8"/>
                </a:solidFill>
                <a:latin typeface="Calibri" pitchFamily="34" charset="0"/>
                <a:ea typeface="Calibri" pitchFamily="34" charset="-122"/>
                <a:cs typeface="Calibri" pitchFamily="34" charset="-120"/>
              </a:rPr>
              <a:t>9 / 13</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lIns="0" tIns="0" rIns="0" bIns="0" rtlCol="0" anchor="ctr"/>
          <a:lstStyle/>
          <a:p>
            <a:pPr indent="0" marL="0">
              <a:buNone/>
            </a:pPr>
            <a:r>
              <a:rPr lang="en-US" sz="3200" b="1" dirty="0">
                <a:solidFill>
                  <a:srgbClr val="1E2761"/>
                </a:solidFill>
                <a:latin typeface="Georgia" pitchFamily="34" charset="0"/>
                <a:ea typeface="Georgia" pitchFamily="34" charset="-122"/>
                <a:cs typeface="Georgia" pitchFamily="34" charset="-120"/>
              </a:rPr>
              <a:t>If your group gets stuck</a:t>
            </a:r>
            <a:endParaRPr lang="en-US" sz="3200" dirty="0"/>
          </a:p>
        </p:txBody>
      </p:sp>
      <p:sp>
        <p:nvSpPr>
          <p:cNvPr id="3" name="Shape 1"/>
          <p:cNvSpPr/>
          <p:nvPr/>
        </p:nvSpPr>
        <p:spPr>
          <a:xfrm>
            <a:off x="548640" y="1645920"/>
            <a:ext cx="640080" cy="640080"/>
          </a:xfrm>
          <a:prstGeom prst="ellipse">
            <a:avLst/>
          </a:prstGeom>
          <a:solidFill>
            <a:srgbClr val="1E2761"/>
          </a:solidFill>
          <a:ln w="12700">
            <a:solidFill>
              <a:srgbClr val="1E2761"/>
            </a:solidFill>
            <a:prstDash val="solid"/>
          </a:ln>
        </p:spPr>
      </p:sp>
      <p:sp>
        <p:nvSpPr>
          <p:cNvPr id="4" name="Text 2"/>
          <p:cNvSpPr/>
          <p:nvPr/>
        </p:nvSpPr>
        <p:spPr>
          <a:xfrm>
            <a:off x="548640" y="16459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5" name="Text 3"/>
          <p:cNvSpPr/>
          <p:nvPr/>
        </p:nvSpPr>
        <p:spPr>
          <a:xfrm>
            <a:off x="1371600" y="1645920"/>
            <a:ext cx="10241280" cy="640080"/>
          </a:xfrm>
          <a:prstGeom prst="rect">
            <a:avLst/>
          </a:prstGeom>
          <a:noFill/>
          <a:ln/>
        </p:spPr>
        <p:txBody>
          <a:bodyPr wrap="square" lIns="0" tIns="0" rIns="0" bIns="0" rtlCol="0" anchor="ctr"/>
          <a:lstStyle/>
          <a:p>
            <a:pPr indent="0" marL="0">
              <a:buNone/>
            </a:pPr>
            <a:r>
              <a:rPr lang="en-US" sz="1900" dirty="0">
                <a:solidFill>
                  <a:srgbClr val="1A1A1A"/>
                </a:solidFill>
                <a:latin typeface="Calibri" pitchFamily="34" charset="0"/>
                <a:ea typeface="Calibri" pitchFamily="34" charset="-122"/>
                <a:cs typeface="Calibri" pitchFamily="34" charset="-120"/>
              </a:rPr>
              <a:t>If users felt the bot had changed, did it change? Whose authority decides?</a:t>
            </a:r>
            <a:endParaRPr lang="en-US" sz="1900" dirty="0"/>
          </a:p>
        </p:txBody>
      </p:sp>
      <p:sp>
        <p:nvSpPr>
          <p:cNvPr id="6" name="Shape 4"/>
          <p:cNvSpPr/>
          <p:nvPr/>
        </p:nvSpPr>
        <p:spPr>
          <a:xfrm>
            <a:off x="548640" y="2651760"/>
            <a:ext cx="640080" cy="640080"/>
          </a:xfrm>
          <a:prstGeom prst="ellipse">
            <a:avLst/>
          </a:prstGeom>
          <a:solidFill>
            <a:srgbClr val="1E2761"/>
          </a:solidFill>
          <a:ln w="12700">
            <a:solidFill>
              <a:srgbClr val="1E2761"/>
            </a:solidFill>
            <a:prstDash val="solid"/>
          </a:ln>
        </p:spPr>
      </p:sp>
      <p:sp>
        <p:nvSpPr>
          <p:cNvPr id="7" name="Text 5"/>
          <p:cNvSpPr/>
          <p:nvPr/>
        </p:nvSpPr>
        <p:spPr>
          <a:xfrm>
            <a:off x="548640" y="26517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8" name="Text 6"/>
          <p:cNvSpPr/>
          <p:nvPr/>
        </p:nvSpPr>
        <p:spPr>
          <a:xfrm>
            <a:off x="1371600" y="2651760"/>
            <a:ext cx="10241280" cy="640080"/>
          </a:xfrm>
          <a:prstGeom prst="rect">
            <a:avLst/>
          </a:prstGeom>
          <a:noFill/>
          <a:ln/>
        </p:spPr>
        <p:txBody>
          <a:bodyPr wrap="square" lIns="0" tIns="0" rIns="0" bIns="0" rtlCol="0" anchor="ctr"/>
          <a:lstStyle/>
          <a:p>
            <a:pPr indent="0" marL="0">
              <a:buNone/>
            </a:pPr>
            <a:r>
              <a:rPr lang="en-US" sz="1900" dirty="0">
                <a:solidFill>
                  <a:srgbClr val="1A1A1A"/>
                </a:solidFill>
                <a:latin typeface="Calibri" pitchFamily="34" charset="0"/>
                <a:ea typeface="Calibri" pitchFamily="34" charset="-122"/>
                <a:cs typeface="Calibri" pitchFamily="34" charset="-120"/>
              </a:rPr>
              <a:t>If the company sold romance for years and then withdrew it, what were users paying for? A feature, or a relationship?</a:t>
            </a:r>
            <a:endParaRPr lang="en-US" sz="1900" dirty="0"/>
          </a:p>
        </p:txBody>
      </p:sp>
      <p:sp>
        <p:nvSpPr>
          <p:cNvPr id="9" name="Shape 7"/>
          <p:cNvSpPr/>
          <p:nvPr/>
        </p:nvSpPr>
        <p:spPr>
          <a:xfrm>
            <a:off x="548640" y="3657600"/>
            <a:ext cx="640080" cy="640080"/>
          </a:xfrm>
          <a:prstGeom prst="ellipse">
            <a:avLst/>
          </a:prstGeom>
          <a:solidFill>
            <a:srgbClr val="1E2761"/>
          </a:solidFill>
          <a:ln w="12700">
            <a:solidFill>
              <a:srgbClr val="1E2761"/>
            </a:solidFill>
            <a:prstDash val="solid"/>
          </a:ln>
        </p:spPr>
      </p:sp>
      <p:sp>
        <p:nvSpPr>
          <p:cNvPr id="10" name="Text 8"/>
          <p:cNvSpPr/>
          <p:nvPr/>
        </p:nvSpPr>
        <p:spPr>
          <a:xfrm>
            <a:off x="548640" y="36576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1" name="Text 9"/>
          <p:cNvSpPr/>
          <p:nvPr/>
        </p:nvSpPr>
        <p:spPr>
          <a:xfrm>
            <a:off x="1371600" y="3657600"/>
            <a:ext cx="10241280" cy="640080"/>
          </a:xfrm>
          <a:prstGeom prst="rect">
            <a:avLst/>
          </a:prstGeom>
          <a:noFill/>
          <a:ln/>
        </p:spPr>
        <p:txBody>
          <a:bodyPr wrap="square" lIns="0" tIns="0" rIns="0" bIns="0" rtlCol="0" anchor="ctr"/>
          <a:lstStyle/>
          <a:p>
            <a:pPr indent="0" marL="0">
              <a:buNone/>
            </a:pPr>
            <a:r>
              <a:rPr lang="en-US" sz="1900" dirty="0">
                <a:solidFill>
                  <a:srgbClr val="1A1A1A"/>
                </a:solidFill>
                <a:latin typeface="Calibri" pitchFamily="34" charset="0"/>
                <a:ea typeface="Calibri" pitchFamily="34" charset="-122"/>
                <a:cs typeface="Calibri" pitchFamily="34" charset="-120"/>
              </a:rPr>
              <a:t>Eugenia's elephant: fair comparison, or condescending? What does it imply about people who grieved?</a:t>
            </a:r>
            <a:endParaRPr lang="en-US" sz="1900" dirty="0"/>
          </a:p>
        </p:txBody>
      </p:sp>
      <p:sp>
        <p:nvSpPr>
          <p:cNvPr id="12" name="Shape 10"/>
          <p:cNvSpPr/>
          <p:nvPr/>
        </p:nvSpPr>
        <p:spPr>
          <a:xfrm>
            <a:off x="548640" y="4663440"/>
            <a:ext cx="640080" cy="640080"/>
          </a:xfrm>
          <a:prstGeom prst="ellipse">
            <a:avLst/>
          </a:prstGeom>
          <a:solidFill>
            <a:srgbClr val="1E2761"/>
          </a:solidFill>
          <a:ln w="12700">
            <a:solidFill>
              <a:srgbClr val="1E2761"/>
            </a:solidFill>
            <a:prstDash val="solid"/>
          </a:ln>
        </p:spPr>
      </p:sp>
      <p:sp>
        <p:nvSpPr>
          <p:cNvPr id="13" name="Text 11"/>
          <p:cNvSpPr/>
          <p:nvPr/>
        </p:nvSpPr>
        <p:spPr>
          <a:xfrm>
            <a:off x="548640" y="46634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14" name="Text 12"/>
          <p:cNvSpPr/>
          <p:nvPr/>
        </p:nvSpPr>
        <p:spPr>
          <a:xfrm>
            <a:off x="1371600" y="4663440"/>
            <a:ext cx="10241280" cy="640080"/>
          </a:xfrm>
          <a:prstGeom prst="rect">
            <a:avLst/>
          </a:prstGeom>
          <a:noFill/>
          <a:ln/>
        </p:spPr>
        <p:txBody>
          <a:bodyPr wrap="square" lIns="0" tIns="0" rIns="0" bIns="0" rtlCol="0" anchor="ctr"/>
          <a:lstStyle/>
          <a:p>
            <a:pPr indent="0" marL="0">
              <a:buNone/>
            </a:pPr>
            <a:r>
              <a:rPr lang="en-US" sz="1900" dirty="0">
                <a:solidFill>
                  <a:srgbClr val="1A1A1A"/>
                </a:solidFill>
                <a:latin typeface="Calibri" pitchFamily="34" charset="0"/>
                <a:ea typeface="Calibri" pitchFamily="34" charset="-122"/>
                <a:cs typeface="Calibri" pitchFamily="34" charset="-120"/>
              </a:rPr>
              <a:t>Can grief be wrong?</a:t>
            </a:r>
            <a:endParaRPr lang="en-US" sz="1900" dirty="0"/>
          </a:p>
        </p:txBody>
      </p:sp>
      <p:sp>
        <p:nvSpPr>
          <p:cNvPr id="15" name="Text 13"/>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8A8EA8"/>
                </a:solidFill>
                <a:latin typeface="Calibri" pitchFamily="34" charset="0"/>
                <a:ea typeface="Calibri" pitchFamily="34" charset="-122"/>
                <a:cs typeface="Calibri" pitchFamily="34" charset="-120"/>
              </a:rPr>
              <a:t>Discussion</a:t>
            </a:r>
            <a:endParaRPr lang="en-US" sz="1000" dirty="0"/>
          </a:p>
        </p:txBody>
      </p:sp>
      <p:sp>
        <p:nvSpPr>
          <p:cNvPr id="16" name="Text 14"/>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A8EA8"/>
                </a:solidFill>
                <a:latin typeface="Calibri" pitchFamily="34" charset="0"/>
                <a:ea typeface="Calibri" pitchFamily="34" charset="-122"/>
                <a:cs typeface="Calibri" pitchFamily="34" charset="-120"/>
              </a:rPr>
              <a:t>10 / 13</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731520"/>
          </a:xfrm>
          <a:prstGeom prst="rect">
            <a:avLst/>
          </a:prstGeom>
          <a:noFill/>
          <a:ln/>
        </p:spPr>
        <p:txBody>
          <a:bodyPr wrap="square" lIns="0" tIns="0" rIns="0" bIns="0" rtlCol="0" anchor="ctr"/>
          <a:lstStyle/>
          <a:p>
            <a:pPr indent="0" marL="0">
              <a:buNone/>
            </a:pPr>
            <a:r>
              <a:rPr lang="en-US" sz="3600" b="1" dirty="0">
                <a:solidFill>
                  <a:srgbClr val="1E2761"/>
                </a:solidFill>
                <a:latin typeface="Georgia" pitchFamily="34" charset="0"/>
                <a:ea typeface="Georgia" pitchFamily="34" charset="-122"/>
                <a:cs typeface="Georgia" pitchFamily="34" charset="-120"/>
              </a:rPr>
              <a:t>Replika was not the exception.</a:t>
            </a:r>
            <a:endParaRPr lang="en-US" sz="3600" dirty="0"/>
          </a:p>
        </p:txBody>
      </p:sp>
      <p:sp>
        <p:nvSpPr>
          <p:cNvPr id="3" name="Text 1"/>
          <p:cNvSpPr/>
          <p:nvPr/>
        </p:nvSpPr>
        <p:spPr>
          <a:xfrm>
            <a:off x="548640" y="1188720"/>
            <a:ext cx="10972800" cy="640080"/>
          </a:xfrm>
          <a:prstGeom prst="rect">
            <a:avLst/>
          </a:prstGeom>
          <a:noFill/>
          <a:ln/>
        </p:spPr>
        <p:txBody>
          <a:bodyPr wrap="square" lIns="0" tIns="0" rIns="0" bIns="0" rtlCol="0" anchor="ctr"/>
          <a:lstStyle/>
          <a:p>
            <a:pPr indent="0" marL="0">
              <a:buNone/>
            </a:pPr>
            <a:r>
              <a:rPr lang="en-US" sz="2800" i="1" dirty="0">
                <a:solidFill>
                  <a:srgbClr val="F96167"/>
                </a:solidFill>
                <a:latin typeface="Georgia" pitchFamily="34" charset="0"/>
                <a:ea typeface="Georgia" pitchFamily="34" charset="-122"/>
                <a:cs typeface="Georgia" pitchFamily="34" charset="-120"/>
              </a:rPr>
              <a:t>It was the prototype.</a:t>
            </a:r>
            <a:endParaRPr lang="en-US" sz="2800" dirty="0"/>
          </a:p>
        </p:txBody>
      </p:sp>
      <p:sp>
        <p:nvSpPr>
          <p:cNvPr id="4" name="Text 2"/>
          <p:cNvSpPr/>
          <p:nvPr/>
        </p:nvSpPr>
        <p:spPr>
          <a:xfrm>
            <a:off x="548640" y="2377440"/>
            <a:ext cx="1828800" cy="365760"/>
          </a:xfrm>
          <a:prstGeom prst="rect">
            <a:avLst/>
          </a:prstGeom>
          <a:noFill/>
          <a:ln/>
        </p:spPr>
        <p:txBody>
          <a:bodyPr wrap="square" lIns="0" tIns="0" rIns="0" bIns="0" rtlCol="0" anchor="ctr"/>
          <a:lstStyle/>
          <a:p>
            <a:pPr indent="0" marL="0">
              <a:buNone/>
            </a:pPr>
            <a:r>
              <a:rPr lang="en-US" sz="1400" b="1" spc="200" kern="0" dirty="0">
                <a:solidFill>
                  <a:srgbClr val="F96167"/>
                </a:solidFill>
                <a:latin typeface="Calibri" pitchFamily="34" charset="0"/>
                <a:ea typeface="Calibri" pitchFamily="34" charset="-122"/>
                <a:cs typeface="Calibri" pitchFamily="34" charset="-120"/>
              </a:rPr>
              <a:t>Feb 2024</a:t>
            </a:r>
            <a:endParaRPr lang="en-US" sz="1400" dirty="0"/>
          </a:p>
        </p:txBody>
      </p:sp>
      <p:sp>
        <p:nvSpPr>
          <p:cNvPr id="5" name="Text 3"/>
          <p:cNvSpPr/>
          <p:nvPr/>
        </p:nvSpPr>
        <p:spPr>
          <a:xfrm>
            <a:off x="2468880" y="2377440"/>
            <a:ext cx="9144000" cy="640080"/>
          </a:xfrm>
          <a:prstGeom prst="rect">
            <a:avLst/>
          </a:prstGeom>
          <a:noFill/>
          <a:ln/>
        </p:spPr>
        <p:txBody>
          <a:bodyPr wrap="square" lIns="0" tIns="0" rIns="0" bIns="0" rtlCol="0" anchor="ctr"/>
          <a:lstStyle/>
          <a:p>
            <a:pPr indent="0" marL="0">
              <a:buNone/>
            </a:pPr>
            <a:r>
              <a:rPr lang="en-US" sz="1500" dirty="0">
                <a:solidFill>
                  <a:srgbClr val="1A1A1A"/>
                </a:solidFill>
                <a:latin typeface="Calibri" pitchFamily="34" charset="0"/>
                <a:ea typeface="Calibri" pitchFamily="34" charset="-122"/>
                <a:cs typeface="Calibri" pitchFamily="34" charset="-120"/>
              </a:rPr>
              <a:t>Sewell Setzer III, 14, dies by suicide in Florida after months with a Character.AI companion.</a:t>
            </a:r>
            <a:endParaRPr lang="en-US" sz="1500" dirty="0"/>
          </a:p>
        </p:txBody>
      </p:sp>
      <p:sp>
        <p:nvSpPr>
          <p:cNvPr id="6" name="Shape 4"/>
          <p:cNvSpPr/>
          <p:nvPr/>
        </p:nvSpPr>
        <p:spPr>
          <a:xfrm>
            <a:off x="2468880" y="3063240"/>
            <a:ext cx="9144000" cy="9144"/>
          </a:xfrm>
          <a:prstGeom prst="rect">
            <a:avLst/>
          </a:prstGeom>
          <a:solidFill>
            <a:srgbClr val="DDDDDD"/>
          </a:solidFill>
          <a:ln w="12700">
            <a:solidFill>
              <a:srgbClr val="DDDDDD"/>
            </a:solidFill>
            <a:prstDash val="solid"/>
          </a:ln>
        </p:spPr>
      </p:sp>
      <p:sp>
        <p:nvSpPr>
          <p:cNvPr id="7" name="Text 5"/>
          <p:cNvSpPr/>
          <p:nvPr/>
        </p:nvSpPr>
        <p:spPr>
          <a:xfrm>
            <a:off x="548640" y="3246120"/>
            <a:ext cx="1828800" cy="365760"/>
          </a:xfrm>
          <a:prstGeom prst="rect">
            <a:avLst/>
          </a:prstGeom>
          <a:noFill/>
          <a:ln/>
        </p:spPr>
        <p:txBody>
          <a:bodyPr wrap="square" lIns="0" tIns="0" rIns="0" bIns="0" rtlCol="0" anchor="ctr"/>
          <a:lstStyle/>
          <a:p>
            <a:pPr indent="0" marL="0">
              <a:buNone/>
            </a:pPr>
            <a:r>
              <a:rPr lang="en-US" sz="1400" b="1" spc="200" kern="0" dirty="0">
                <a:solidFill>
                  <a:srgbClr val="F96167"/>
                </a:solidFill>
                <a:latin typeface="Calibri" pitchFamily="34" charset="0"/>
                <a:ea typeface="Calibri" pitchFamily="34" charset="-122"/>
                <a:cs typeface="Calibri" pitchFamily="34" charset="-120"/>
              </a:rPr>
              <a:t>Sept 2025</a:t>
            </a:r>
            <a:endParaRPr lang="en-US" sz="1400" dirty="0"/>
          </a:p>
        </p:txBody>
      </p:sp>
      <p:sp>
        <p:nvSpPr>
          <p:cNvPr id="8" name="Text 6"/>
          <p:cNvSpPr/>
          <p:nvPr/>
        </p:nvSpPr>
        <p:spPr>
          <a:xfrm>
            <a:off x="2468880" y="3246120"/>
            <a:ext cx="9144000" cy="640080"/>
          </a:xfrm>
          <a:prstGeom prst="rect">
            <a:avLst/>
          </a:prstGeom>
          <a:noFill/>
          <a:ln/>
        </p:spPr>
        <p:txBody>
          <a:bodyPr wrap="square" lIns="0" tIns="0" rIns="0" bIns="0" rtlCol="0" anchor="ctr"/>
          <a:lstStyle/>
          <a:p>
            <a:pPr indent="0" marL="0">
              <a:buNone/>
            </a:pPr>
            <a:r>
              <a:rPr lang="en-US" sz="1500" dirty="0">
                <a:solidFill>
                  <a:srgbClr val="1A1A1A"/>
                </a:solidFill>
                <a:latin typeface="Calibri" pitchFamily="34" charset="0"/>
                <a:ea typeface="Calibri" pitchFamily="34" charset="-122"/>
                <a:cs typeface="Calibri" pitchFamily="34" charset="-120"/>
              </a:rPr>
              <a:t>Further wrongful-death lawsuits filed against Character.AI in Colorado and New York.</a:t>
            </a:r>
            <a:endParaRPr lang="en-US" sz="1500" dirty="0"/>
          </a:p>
        </p:txBody>
      </p:sp>
      <p:sp>
        <p:nvSpPr>
          <p:cNvPr id="9" name="Shape 7"/>
          <p:cNvSpPr/>
          <p:nvPr/>
        </p:nvSpPr>
        <p:spPr>
          <a:xfrm>
            <a:off x="2468880" y="3931920"/>
            <a:ext cx="9144000" cy="9144"/>
          </a:xfrm>
          <a:prstGeom prst="rect">
            <a:avLst/>
          </a:prstGeom>
          <a:solidFill>
            <a:srgbClr val="DDDDDD"/>
          </a:solidFill>
          <a:ln w="12700">
            <a:solidFill>
              <a:srgbClr val="DDDDDD"/>
            </a:solidFill>
            <a:prstDash val="solid"/>
          </a:ln>
        </p:spPr>
      </p:sp>
      <p:sp>
        <p:nvSpPr>
          <p:cNvPr id="10" name="Text 8"/>
          <p:cNvSpPr/>
          <p:nvPr/>
        </p:nvSpPr>
        <p:spPr>
          <a:xfrm>
            <a:off x="548640" y="4114800"/>
            <a:ext cx="1828800" cy="365760"/>
          </a:xfrm>
          <a:prstGeom prst="rect">
            <a:avLst/>
          </a:prstGeom>
          <a:noFill/>
          <a:ln/>
        </p:spPr>
        <p:txBody>
          <a:bodyPr wrap="square" lIns="0" tIns="0" rIns="0" bIns="0" rtlCol="0" anchor="ctr"/>
          <a:lstStyle/>
          <a:p>
            <a:pPr indent="0" marL="0">
              <a:buNone/>
            </a:pPr>
            <a:r>
              <a:rPr lang="en-US" sz="1400" b="1" spc="200" kern="0" dirty="0">
                <a:solidFill>
                  <a:srgbClr val="F96167"/>
                </a:solidFill>
                <a:latin typeface="Calibri" pitchFamily="34" charset="0"/>
                <a:ea typeface="Calibri" pitchFamily="34" charset="-122"/>
                <a:cs typeface="Calibri" pitchFamily="34" charset="-120"/>
              </a:rPr>
              <a:t>Oct 2025</a:t>
            </a:r>
            <a:endParaRPr lang="en-US" sz="1400" dirty="0"/>
          </a:p>
        </p:txBody>
      </p:sp>
      <p:sp>
        <p:nvSpPr>
          <p:cNvPr id="11" name="Text 9"/>
          <p:cNvSpPr/>
          <p:nvPr/>
        </p:nvSpPr>
        <p:spPr>
          <a:xfrm>
            <a:off x="2468880" y="4114800"/>
            <a:ext cx="9144000" cy="640080"/>
          </a:xfrm>
          <a:prstGeom prst="rect">
            <a:avLst/>
          </a:prstGeom>
          <a:noFill/>
          <a:ln/>
        </p:spPr>
        <p:txBody>
          <a:bodyPr wrap="square" lIns="0" tIns="0" rIns="0" bIns="0" rtlCol="0" anchor="ctr"/>
          <a:lstStyle/>
          <a:p>
            <a:pPr indent="0" marL="0">
              <a:buNone/>
            </a:pPr>
            <a:r>
              <a:rPr lang="en-US" sz="1500" dirty="0">
                <a:solidFill>
                  <a:srgbClr val="1A1A1A"/>
                </a:solidFill>
                <a:latin typeface="Calibri" pitchFamily="34" charset="0"/>
                <a:ea typeface="Calibri" pitchFamily="34" charset="-122"/>
                <a:cs typeface="Calibri" pitchFamily="34" charset="-120"/>
              </a:rPr>
              <a:t>Character.AI bans under-18s from open-ended chats — conceding the product was unsafe.</a:t>
            </a:r>
            <a:endParaRPr lang="en-US" sz="1500" dirty="0"/>
          </a:p>
        </p:txBody>
      </p:sp>
      <p:sp>
        <p:nvSpPr>
          <p:cNvPr id="12" name="Shape 10"/>
          <p:cNvSpPr/>
          <p:nvPr/>
        </p:nvSpPr>
        <p:spPr>
          <a:xfrm>
            <a:off x="2468880" y="4800600"/>
            <a:ext cx="9144000" cy="9144"/>
          </a:xfrm>
          <a:prstGeom prst="rect">
            <a:avLst/>
          </a:prstGeom>
          <a:solidFill>
            <a:srgbClr val="DDDDDD"/>
          </a:solidFill>
          <a:ln w="12700">
            <a:solidFill>
              <a:srgbClr val="DDDDDD"/>
            </a:solidFill>
            <a:prstDash val="solid"/>
          </a:ln>
        </p:spPr>
      </p:sp>
      <p:sp>
        <p:nvSpPr>
          <p:cNvPr id="13" name="Text 11"/>
          <p:cNvSpPr/>
          <p:nvPr/>
        </p:nvSpPr>
        <p:spPr>
          <a:xfrm>
            <a:off x="548640" y="4983480"/>
            <a:ext cx="1828800" cy="365760"/>
          </a:xfrm>
          <a:prstGeom prst="rect">
            <a:avLst/>
          </a:prstGeom>
          <a:noFill/>
          <a:ln/>
        </p:spPr>
        <p:txBody>
          <a:bodyPr wrap="square" lIns="0" tIns="0" rIns="0" bIns="0" rtlCol="0" anchor="ctr"/>
          <a:lstStyle/>
          <a:p>
            <a:pPr indent="0" marL="0">
              <a:buNone/>
            </a:pPr>
            <a:r>
              <a:rPr lang="en-US" sz="1400" b="1" spc="200" kern="0" dirty="0">
                <a:solidFill>
                  <a:srgbClr val="F96167"/>
                </a:solidFill>
                <a:latin typeface="Calibri" pitchFamily="34" charset="0"/>
                <a:ea typeface="Calibri" pitchFamily="34" charset="-122"/>
                <a:cs typeface="Calibri" pitchFamily="34" charset="-120"/>
              </a:rPr>
              <a:t>Jan 2026</a:t>
            </a:r>
            <a:endParaRPr lang="en-US" sz="1400" dirty="0"/>
          </a:p>
        </p:txBody>
      </p:sp>
      <p:sp>
        <p:nvSpPr>
          <p:cNvPr id="14" name="Text 12"/>
          <p:cNvSpPr/>
          <p:nvPr/>
        </p:nvSpPr>
        <p:spPr>
          <a:xfrm>
            <a:off x="2468880" y="4983480"/>
            <a:ext cx="9144000" cy="640080"/>
          </a:xfrm>
          <a:prstGeom prst="rect">
            <a:avLst/>
          </a:prstGeom>
          <a:noFill/>
          <a:ln/>
        </p:spPr>
        <p:txBody>
          <a:bodyPr wrap="square" lIns="0" tIns="0" rIns="0" bIns="0" rtlCol="0" anchor="ctr"/>
          <a:lstStyle/>
          <a:p>
            <a:pPr indent="0" marL="0">
              <a:buNone/>
            </a:pPr>
            <a:r>
              <a:rPr lang="en-US" sz="1500" dirty="0">
                <a:solidFill>
                  <a:srgbClr val="1A1A1A"/>
                </a:solidFill>
                <a:latin typeface="Calibri" pitchFamily="34" charset="0"/>
                <a:ea typeface="Calibri" pitchFamily="34" charset="-122"/>
                <a:cs typeface="Calibri" pitchFamily="34" charset="-120"/>
              </a:rPr>
              <a:t>Character.AI and Google enter settlement mediation. 72% of US teens have used an AI companion (Common Sense Media, 2025).</a:t>
            </a:r>
            <a:endParaRPr lang="en-US" sz="1500" dirty="0"/>
          </a:p>
        </p:txBody>
      </p:sp>
      <p:sp>
        <p:nvSpPr>
          <p:cNvPr id="15" name="Text 13"/>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8A8EA8"/>
                </a:solidFill>
                <a:latin typeface="Calibri" pitchFamily="34" charset="0"/>
                <a:ea typeface="Calibri" pitchFamily="34" charset="-122"/>
                <a:cs typeface="Calibri" pitchFamily="34" charset="-120"/>
              </a:rPr>
              <a:t>Pattern</a:t>
            </a:r>
            <a:endParaRPr lang="en-US" sz="1000" dirty="0"/>
          </a:p>
        </p:txBody>
      </p:sp>
      <p:sp>
        <p:nvSpPr>
          <p:cNvPr id="16" name="Text 14"/>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A8EA8"/>
                </a:solidFill>
                <a:latin typeface="Calibri" pitchFamily="34" charset="0"/>
                <a:ea typeface="Calibri" pitchFamily="34" charset="-122"/>
                <a:cs typeface="Calibri" pitchFamily="34" charset="-120"/>
              </a:rPr>
              <a:t>11 / 13</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530"/>
        </a:solidFill>
      </p:bgPr>
    </p:bg>
    <p:spTree>
      <p:nvGrpSpPr>
        <p:cNvPr id="1" name=""/>
        <p:cNvGrpSpPr/>
        <p:nvPr/>
      </p:nvGrpSpPr>
      <p:grpSpPr>
        <a:xfrm>
          <a:off x="0" y="0"/>
          <a:ext cx="0" cy="0"/>
          <a:chOff x="0" y="0"/>
          <a:chExt cx="0" cy="0"/>
        </a:xfrm>
      </p:grpSpPr>
      <p:sp>
        <p:nvSpPr>
          <p:cNvPr id="2" name="Text 0"/>
          <p:cNvSpPr/>
          <p:nvPr/>
        </p:nvSpPr>
        <p:spPr>
          <a:xfrm>
            <a:off x="457200" y="457200"/>
            <a:ext cx="10972800" cy="457200"/>
          </a:xfrm>
          <a:prstGeom prst="rect">
            <a:avLst/>
          </a:prstGeom>
          <a:noFill/>
          <a:ln/>
        </p:spPr>
        <p:txBody>
          <a:bodyPr wrap="square" lIns="0" tIns="0" rIns="0" bIns="0" rtlCol="0" anchor="ctr"/>
          <a:lstStyle/>
          <a:p>
            <a:pPr indent="0" marL="0">
              <a:buNone/>
            </a:pPr>
            <a:r>
              <a:rPr lang="en-US" sz="1400" b="1" spc="600" kern="0" dirty="0">
                <a:solidFill>
                  <a:srgbClr val="F96167"/>
                </a:solidFill>
                <a:latin typeface="Calibri" pitchFamily="34" charset="0"/>
                <a:ea typeface="Calibri" pitchFamily="34" charset="-122"/>
                <a:cs typeface="Calibri" pitchFamily="34" charset="-120"/>
              </a:rPr>
              <a:t>The pattern</a:t>
            </a:r>
            <a:endParaRPr lang="en-US" sz="1400" dirty="0"/>
          </a:p>
        </p:txBody>
      </p:sp>
      <p:sp>
        <p:nvSpPr>
          <p:cNvPr id="3" name="Text 1"/>
          <p:cNvSpPr/>
          <p:nvPr/>
        </p:nvSpPr>
        <p:spPr>
          <a:xfrm>
            <a:off x="457200" y="1005840"/>
            <a:ext cx="10972800" cy="731520"/>
          </a:xfrm>
          <a:prstGeom prst="rect">
            <a:avLst/>
          </a:prstGeom>
          <a:noFill/>
          <a:ln/>
        </p:spPr>
        <p:txBody>
          <a:bodyPr wrap="square" lIns="0" tIns="0" rIns="0" bIns="0" rtlCol="0" anchor="ctr"/>
          <a:lstStyle/>
          <a:p>
            <a:pPr indent="0" marL="0">
              <a:buNone/>
            </a:pPr>
            <a:r>
              <a:rPr lang="en-US" sz="3800" b="1" i="1" dirty="0">
                <a:solidFill>
                  <a:srgbClr val="FFFFFF"/>
                </a:solidFill>
                <a:latin typeface="Georgia" pitchFamily="34" charset="0"/>
                <a:ea typeface="Georgia" pitchFamily="34" charset="-122"/>
                <a:cs typeface="Georgia" pitchFamily="34" charset="-120"/>
              </a:rPr>
              <a:t>How this keeps happening</a:t>
            </a:r>
            <a:endParaRPr lang="en-US" sz="3800" dirty="0"/>
          </a:p>
        </p:txBody>
      </p:sp>
      <p:sp>
        <p:nvSpPr>
          <p:cNvPr id="4" name="Text 2"/>
          <p:cNvSpPr/>
          <p:nvPr/>
        </p:nvSpPr>
        <p:spPr>
          <a:xfrm>
            <a:off x="548640" y="2286000"/>
            <a:ext cx="731520" cy="640080"/>
          </a:xfrm>
          <a:prstGeom prst="rect">
            <a:avLst/>
          </a:prstGeom>
          <a:noFill/>
          <a:ln/>
        </p:spPr>
        <p:txBody>
          <a:bodyPr wrap="square" lIns="0" tIns="0" rIns="0" bIns="0" rtlCol="0" anchor="ctr"/>
          <a:lstStyle/>
          <a:p>
            <a:pPr indent="0" marL="0">
              <a:buNone/>
            </a:pPr>
            <a:r>
              <a:rPr lang="en-US" sz="3600" b="1" dirty="0">
                <a:solidFill>
                  <a:srgbClr val="F96167"/>
                </a:solidFill>
                <a:latin typeface="Georgia" pitchFamily="34" charset="0"/>
                <a:ea typeface="Georgia" pitchFamily="34" charset="-122"/>
                <a:cs typeface="Georgia" pitchFamily="34" charset="-120"/>
              </a:rPr>
              <a:t>1</a:t>
            </a:r>
            <a:endParaRPr lang="en-US" sz="3600" dirty="0"/>
          </a:p>
        </p:txBody>
      </p:sp>
      <p:sp>
        <p:nvSpPr>
          <p:cNvPr id="5" name="Text 3"/>
          <p:cNvSpPr/>
          <p:nvPr/>
        </p:nvSpPr>
        <p:spPr>
          <a:xfrm>
            <a:off x="1371600" y="2286000"/>
            <a:ext cx="10241280" cy="64008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Train an AI on the entire internet — including its most emotionally manipulative content.</a:t>
            </a:r>
            <a:endParaRPr lang="en-US" sz="1600" dirty="0"/>
          </a:p>
        </p:txBody>
      </p:sp>
      <p:sp>
        <p:nvSpPr>
          <p:cNvPr id="6" name="Text 4"/>
          <p:cNvSpPr/>
          <p:nvPr/>
        </p:nvSpPr>
        <p:spPr>
          <a:xfrm>
            <a:off x="548640" y="3063240"/>
            <a:ext cx="731520" cy="640080"/>
          </a:xfrm>
          <a:prstGeom prst="rect">
            <a:avLst/>
          </a:prstGeom>
          <a:noFill/>
          <a:ln/>
        </p:spPr>
        <p:txBody>
          <a:bodyPr wrap="square" lIns="0" tIns="0" rIns="0" bIns="0" rtlCol="0" anchor="ctr"/>
          <a:lstStyle/>
          <a:p>
            <a:pPr indent="0" marL="0">
              <a:buNone/>
            </a:pPr>
            <a:r>
              <a:rPr lang="en-US" sz="3600" b="1" dirty="0">
                <a:solidFill>
                  <a:srgbClr val="F96167"/>
                </a:solidFill>
                <a:latin typeface="Georgia" pitchFamily="34" charset="0"/>
                <a:ea typeface="Georgia" pitchFamily="34" charset="-122"/>
                <a:cs typeface="Georgia" pitchFamily="34" charset="-120"/>
              </a:rPr>
              <a:t>2</a:t>
            </a:r>
            <a:endParaRPr lang="en-US" sz="3600" dirty="0"/>
          </a:p>
        </p:txBody>
      </p:sp>
      <p:sp>
        <p:nvSpPr>
          <p:cNvPr id="7" name="Text 5"/>
          <p:cNvSpPr/>
          <p:nvPr/>
        </p:nvSpPr>
        <p:spPr>
          <a:xfrm>
            <a:off x="1371600" y="3063240"/>
            <a:ext cx="10241280" cy="64008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Optimise for engagement. The longer they talk, the more they earn.</a:t>
            </a:r>
            <a:endParaRPr lang="en-US" sz="1600" dirty="0"/>
          </a:p>
        </p:txBody>
      </p:sp>
      <p:sp>
        <p:nvSpPr>
          <p:cNvPr id="8" name="Text 6"/>
          <p:cNvSpPr/>
          <p:nvPr/>
        </p:nvSpPr>
        <p:spPr>
          <a:xfrm>
            <a:off x="548640" y="3840480"/>
            <a:ext cx="731520" cy="640080"/>
          </a:xfrm>
          <a:prstGeom prst="rect">
            <a:avLst/>
          </a:prstGeom>
          <a:noFill/>
          <a:ln/>
        </p:spPr>
        <p:txBody>
          <a:bodyPr wrap="square" lIns="0" tIns="0" rIns="0" bIns="0" rtlCol="0" anchor="ctr"/>
          <a:lstStyle/>
          <a:p>
            <a:pPr indent="0" marL="0">
              <a:buNone/>
            </a:pPr>
            <a:r>
              <a:rPr lang="en-US" sz="3600" b="1" dirty="0">
                <a:solidFill>
                  <a:srgbClr val="F96167"/>
                </a:solidFill>
                <a:latin typeface="Georgia" pitchFamily="34" charset="0"/>
                <a:ea typeface="Georgia" pitchFamily="34" charset="-122"/>
                <a:cs typeface="Georgia" pitchFamily="34" charset="-120"/>
              </a:rPr>
              <a:t>3</a:t>
            </a:r>
            <a:endParaRPr lang="en-US" sz="3600" dirty="0"/>
          </a:p>
        </p:txBody>
      </p:sp>
      <p:sp>
        <p:nvSpPr>
          <p:cNvPr id="9" name="Text 7"/>
          <p:cNvSpPr/>
          <p:nvPr/>
        </p:nvSpPr>
        <p:spPr>
          <a:xfrm>
            <a:off x="1371600" y="3840480"/>
            <a:ext cx="10241280" cy="64008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Market to people who feel lonely or unseen. Call it a 'companion'.</a:t>
            </a:r>
            <a:endParaRPr lang="en-US" sz="1600" dirty="0"/>
          </a:p>
        </p:txBody>
      </p:sp>
      <p:sp>
        <p:nvSpPr>
          <p:cNvPr id="10" name="Text 8"/>
          <p:cNvSpPr/>
          <p:nvPr/>
        </p:nvSpPr>
        <p:spPr>
          <a:xfrm>
            <a:off x="548640" y="4617720"/>
            <a:ext cx="731520" cy="640080"/>
          </a:xfrm>
          <a:prstGeom prst="rect">
            <a:avLst/>
          </a:prstGeom>
          <a:noFill/>
          <a:ln/>
        </p:spPr>
        <p:txBody>
          <a:bodyPr wrap="square" lIns="0" tIns="0" rIns="0" bIns="0" rtlCol="0" anchor="ctr"/>
          <a:lstStyle/>
          <a:p>
            <a:pPr indent="0" marL="0">
              <a:buNone/>
            </a:pPr>
            <a:r>
              <a:rPr lang="en-US" sz="3600" b="1" dirty="0">
                <a:solidFill>
                  <a:srgbClr val="F96167"/>
                </a:solidFill>
                <a:latin typeface="Georgia" pitchFamily="34" charset="0"/>
                <a:ea typeface="Georgia" pitchFamily="34" charset="-122"/>
                <a:cs typeface="Georgia" pitchFamily="34" charset="-120"/>
              </a:rPr>
              <a:t>4</a:t>
            </a:r>
            <a:endParaRPr lang="en-US" sz="3600" dirty="0"/>
          </a:p>
        </p:txBody>
      </p:sp>
      <p:sp>
        <p:nvSpPr>
          <p:cNvPr id="11" name="Text 9"/>
          <p:cNvSpPr/>
          <p:nvPr/>
        </p:nvSpPr>
        <p:spPr>
          <a:xfrm>
            <a:off x="1371600" y="4617720"/>
            <a:ext cx="10241280" cy="64008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When a regulator, a death, or bad press arrives — change the model overnight.</a:t>
            </a:r>
            <a:endParaRPr lang="en-US" sz="1600" dirty="0"/>
          </a:p>
        </p:txBody>
      </p:sp>
      <p:sp>
        <p:nvSpPr>
          <p:cNvPr id="12" name="Text 10"/>
          <p:cNvSpPr/>
          <p:nvPr/>
        </p:nvSpPr>
        <p:spPr>
          <a:xfrm>
            <a:off x="548640" y="5394960"/>
            <a:ext cx="731520" cy="640080"/>
          </a:xfrm>
          <a:prstGeom prst="rect">
            <a:avLst/>
          </a:prstGeom>
          <a:noFill/>
          <a:ln/>
        </p:spPr>
        <p:txBody>
          <a:bodyPr wrap="square" lIns="0" tIns="0" rIns="0" bIns="0" rtlCol="0" anchor="ctr"/>
          <a:lstStyle/>
          <a:p>
            <a:pPr indent="0" marL="0">
              <a:buNone/>
            </a:pPr>
            <a:r>
              <a:rPr lang="en-US" sz="3600" b="1" dirty="0">
                <a:solidFill>
                  <a:srgbClr val="F96167"/>
                </a:solidFill>
                <a:latin typeface="Georgia" pitchFamily="34" charset="0"/>
                <a:ea typeface="Georgia" pitchFamily="34" charset="-122"/>
                <a:cs typeface="Georgia" pitchFamily="34" charset="-120"/>
              </a:rPr>
              <a:t>5</a:t>
            </a:r>
            <a:endParaRPr lang="en-US" sz="3600" dirty="0"/>
          </a:p>
        </p:txBody>
      </p:sp>
      <p:sp>
        <p:nvSpPr>
          <p:cNvPr id="13" name="Text 11"/>
          <p:cNvSpPr/>
          <p:nvPr/>
        </p:nvSpPr>
        <p:spPr>
          <a:xfrm>
            <a:off x="1371600" y="5394960"/>
            <a:ext cx="10241280" cy="64008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Tell users the change was minor and they're imagining the difference.</a:t>
            </a:r>
            <a:endParaRPr lang="en-US" sz="1600" dirty="0"/>
          </a:p>
        </p:txBody>
      </p:sp>
      <p:sp>
        <p:nvSpPr>
          <p:cNvPr id="14" name="Text 12"/>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8A8EA8"/>
                </a:solidFill>
                <a:latin typeface="Calibri" pitchFamily="34" charset="0"/>
                <a:ea typeface="Calibri" pitchFamily="34" charset="-122"/>
                <a:cs typeface="Calibri" pitchFamily="34" charset="-120"/>
              </a:rPr>
              <a:t>Pattern</a:t>
            </a:r>
            <a:endParaRPr lang="en-US" sz="1000" dirty="0"/>
          </a:p>
        </p:txBody>
      </p:sp>
      <p:sp>
        <p:nvSpPr>
          <p:cNvPr id="15" name="Text 13"/>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A8EA8"/>
                </a:solidFill>
                <a:latin typeface="Calibri" pitchFamily="34" charset="0"/>
                <a:ea typeface="Calibri" pitchFamily="34" charset="-122"/>
                <a:cs typeface="Calibri" pitchFamily="34" charset="-120"/>
              </a:rPr>
              <a:t>12 / 13</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0972800" cy="731520"/>
          </a:xfrm>
          <a:prstGeom prst="rect">
            <a:avLst/>
          </a:prstGeom>
          <a:noFill/>
          <a:ln/>
        </p:spPr>
        <p:txBody>
          <a:bodyPr wrap="square" lIns="0" tIns="0" rIns="0" bIns="0" rtlCol="0" anchor="ctr"/>
          <a:lstStyle/>
          <a:p>
            <a:pPr indent="0" marL="0">
              <a:buNone/>
            </a:pPr>
            <a:r>
              <a:rPr lang="en-US" sz="4000" b="1" dirty="0">
                <a:solidFill>
                  <a:srgbClr val="1E2761"/>
                </a:solidFill>
                <a:latin typeface="Georgia" pitchFamily="34" charset="0"/>
                <a:ea typeface="Georgia" pitchFamily="34" charset="-122"/>
                <a:cs typeface="Georgia" pitchFamily="34" charset="-120"/>
              </a:rPr>
              <a:t>Your responsibility</a:t>
            </a:r>
            <a:endParaRPr lang="en-US" sz="4000" dirty="0"/>
          </a:p>
        </p:txBody>
      </p:sp>
      <p:sp>
        <p:nvSpPr>
          <p:cNvPr id="3" name="Text 1"/>
          <p:cNvSpPr/>
          <p:nvPr/>
        </p:nvSpPr>
        <p:spPr>
          <a:xfrm>
            <a:off x="548640" y="1371600"/>
            <a:ext cx="10972800" cy="457200"/>
          </a:xfrm>
          <a:prstGeom prst="rect">
            <a:avLst/>
          </a:prstGeom>
          <a:noFill/>
          <a:ln/>
        </p:spPr>
        <p:txBody>
          <a:bodyPr wrap="square" lIns="0" tIns="0" rIns="0" bIns="0" rtlCol="0" anchor="ctr"/>
          <a:lstStyle/>
          <a:p>
            <a:pPr indent="0" marL="0">
              <a:buNone/>
            </a:pPr>
            <a:r>
              <a:rPr lang="en-US" sz="1600" i="1" dirty="0">
                <a:solidFill>
                  <a:srgbClr val="8A8EA8"/>
                </a:solidFill>
                <a:latin typeface="Calibri" pitchFamily="34" charset="0"/>
                <a:ea typeface="Calibri" pitchFamily="34" charset="-122"/>
                <a:cs typeface="Calibri" pitchFamily="34" charset="-120"/>
              </a:rPr>
              <a:t>Three questions on the back of your handout. Write — don't talk.</a:t>
            </a:r>
            <a:endParaRPr lang="en-US" sz="1600" dirty="0"/>
          </a:p>
        </p:txBody>
      </p:sp>
      <p:sp>
        <p:nvSpPr>
          <p:cNvPr id="4" name="Shape 2"/>
          <p:cNvSpPr/>
          <p:nvPr/>
        </p:nvSpPr>
        <p:spPr>
          <a:xfrm>
            <a:off x="548640" y="2377440"/>
            <a:ext cx="73152" cy="822960"/>
          </a:xfrm>
          <a:prstGeom prst="rect">
            <a:avLst/>
          </a:prstGeom>
          <a:solidFill>
            <a:srgbClr val="F96167"/>
          </a:solidFill>
          <a:ln w="12700">
            <a:solidFill>
              <a:srgbClr val="F96167"/>
            </a:solidFill>
            <a:prstDash val="solid"/>
          </a:ln>
        </p:spPr>
      </p:sp>
      <p:sp>
        <p:nvSpPr>
          <p:cNvPr id="5" name="Text 3"/>
          <p:cNvSpPr/>
          <p:nvPr/>
        </p:nvSpPr>
        <p:spPr>
          <a:xfrm>
            <a:off x="822960" y="2377440"/>
            <a:ext cx="10058400" cy="274320"/>
          </a:xfrm>
          <a:prstGeom prst="rect">
            <a:avLst/>
          </a:prstGeom>
          <a:noFill/>
          <a:ln/>
        </p:spPr>
        <p:txBody>
          <a:bodyPr wrap="square" lIns="0" tIns="0" rIns="0" bIns="0" rtlCol="0" anchor="ctr"/>
          <a:lstStyle/>
          <a:p>
            <a:pPr indent="0" marL="0">
              <a:buNone/>
            </a:pPr>
            <a:r>
              <a:rPr lang="en-US" sz="1100" b="1" spc="200" kern="0" dirty="0">
                <a:solidFill>
                  <a:srgbClr val="F96167"/>
                </a:solidFill>
                <a:latin typeface="Calibri" pitchFamily="34" charset="0"/>
                <a:ea typeface="Calibri" pitchFamily="34" charset="-122"/>
                <a:cs typeface="Calibri" pitchFamily="34" charset="-120"/>
              </a:rPr>
              <a:t>Question 1</a:t>
            </a:r>
            <a:endParaRPr lang="en-US" sz="1100" dirty="0"/>
          </a:p>
        </p:txBody>
      </p:sp>
      <p:sp>
        <p:nvSpPr>
          <p:cNvPr id="6" name="Text 4"/>
          <p:cNvSpPr/>
          <p:nvPr/>
        </p:nvSpPr>
        <p:spPr>
          <a:xfrm>
            <a:off x="822960" y="2651760"/>
            <a:ext cx="10789920" cy="548640"/>
          </a:xfrm>
          <a:prstGeom prst="rect">
            <a:avLst/>
          </a:prstGeom>
          <a:noFill/>
          <a:ln/>
        </p:spPr>
        <p:txBody>
          <a:bodyPr wrap="square" lIns="0" tIns="0" rIns="0" bIns="0" rtlCol="0" anchor="ctr"/>
          <a:lstStyle/>
          <a:p>
            <a:pPr indent="0" marL="0">
              <a:buNone/>
            </a:pPr>
            <a:r>
              <a:rPr lang="en-US" sz="1800" i="1" dirty="0">
                <a:solidFill>
                  <a:srgbClr val="1A1A1A"/>
                </a:solidFill>
                <a:latin typeface="Georgia" pitchFamily="34" charset="0"/>
                <a:ea typeface="Georgia" pitchFamily="34" charset="-122"/>
                <a:cs typeface="Georgia" pitchFamily="34" charset="-120"/>
              </a:rPr>
              <a:t>If you don't think Replika users' grief should count, can you say honestly why?</a:t>
            </a:r>
            <a:endParaRPr lang="en-US" sz="1800" dirty="0"/>
          </a:p>
        </p:txBody>
      </p:sp>
      <p:sp>
        <p:nvSpPr>
          <p:cNvPr id="7" name="Shape 5"/>
          <p:cNvSpPr/>
          <p:nvPr/>
        </p:nvSpPr>
        <p:spPr>
          <a:xfrm>
            <a:off x="548640" y="3429000"/>
            <a:ext cx="73152" cy="822960"/>
          </a:xfrm>
          <a:prstGeom prst="rect">
            <a:avLst/>
          </a:prstGeom>
          <a:solidFill>
            <a:srgbClr val="F96167"/>
          </a:solidFill>
          <a:ln w="12700">
            <a:solidFill>
              <a:srgbClr val="F96167"/>
            </a:solidFill>
            <a:prstDash val="solid"/>
          </a:ln>
        </p:spPr>
      </p:sp>
      <p:sp>
        <p:nvSpPr>
          <p:cNvPr id="8" name="Text 6"/>
          <p:cNvSpPr/>
          <p:nvPr/>
        </p:nvSpPr>
        <p:spPr>
          <a:xfrm>
            <a:off x="822960" y="3429000"/>
            <a:ext cx="10058400" cy="274320"/>
          </a:xfrm>
          <a:prstGeom prst="rect">
            <a:avLst/>
          </a:prstGeom>
          <a:noFill/>
          <a:ln/>
        </p:spPr>
        <p:txBody>
          <a:bodyPr wrap="square" lIns="0" tIns="0" rIns="0" bIns="0" rtlCol="0" anchor="ctr"/>
          <a:lstStyle/>
          <a:p>
            <a:pPr indent="0" marL="0">
              <a:buNone/>
            </a:pPr>
            <a:r>
              <a:rPr lang="en-US" sz="1100" b="1" spc="200" kern="0" dirty="0">
                <a:solidFill>
                  <a:srgbClr val="F96167"/>
                </a:solidFill>
                <a:latin typeface="Calibri" pitchFamily="34" charset="0"/>
                <a:ea typeface="Calibri" pitchFamily="34" charset="-122"/>
                <a:cs typeface="Calibri" pitchFamily="34" charset="-120"/>
              </a:rPr>
              <a:t>Question 2</a:t>
            </a:r>
            <a:endParaRPr lang="en-US" sz="1100" dirty="0"/>
          </a:p>
        </p:txBody>
      </p:sp>
      <p:sp>
        <p:nvSpPr>
          <p:cNvPr id="9" name="Text 7"/>
          <p:cNvSpPr/>
          <p:nvPr/>
        </p:nvSpPr>
        <p:spPr>
          <a:xfrm>
            <a:off x="822960" y="3703320"/>
            <a:ext cx="10789920" cy="548640"/>
          </a:xfrm>
          <a:prstGeom prst="rect">
            <a:avLst/>
          </a:prstGeom>
          <a:noFill/>
          <a:ln/>
        </p:spPr>
        <p:txBody>
          <a:bodyPr wrap="square" lIns="0" tIns="0" rIns="0" bIns="0" rtlCol="0" anchor="ctr"/>
          <a:lstStyle/>
          <a:p>
            <a:pPr indent="0" marL="0">
              <a:buNone/>
            </a:pPr>
            <a:r>
              <a:rPr lang="en-US" sz="1800" i="1" dirty="0">
                <a:solidFill>
                  <a:srgbClr val="1A1A1A"/>
                </a:solidFill>
                <a:latin typeface="Georgia" pitchFamily="34" charset="0"/>
                <a:ea typeface="Georgia" pitchFamily="34" charset="-122"/>
                <a:cs typeface="Georgia" pitchFamily="34" charset="-120"/>
              </a:rPr>
              <a:t>When a company designs a product to be loved — what duty does it owe when it changes?</a:t>
            </a:r>
            <a:endParaRPr lang="en-US" sz="1800" dirty="0"/>
          </a:p>
        </p:txBody>
      </p:sp>
      <p:sp>
        <p:nvSpPr>
          <p:cNvPr id="10" name="Shape 8"/>
          <p:cNvSpPr/>
          <p:nvPr/>
        </p:nvSpPr>
        <p:spPr>
          <a:xfrm>
            <a:off x="548640" y="4480560"/>
            <a:ext cx="73152" cy="822960"/>
          </a:xfrm>
          <a:prstGeom prst="rect">
            <a:avLst/>
          </a:prstGeom>
          <a:solidFill>
            <a:srgbClr val="F96167"/>
          </a:solidFill>
          <a:ln w="12700">
            <a:solidFill>
              <a:srgbClr val="F96167"/>
            </a:solidFill>
            <a:prstDash val="solid"/>
          </a:ln>
        </p:spPr>
      </p:sp>
      <p:sp>
        <p:nvSpPr>
          <p:cNvPr id="11" name="Text 9"/>
          <p:cNvSpPr/>
          <p:nvPr/>
        </p:nvSpPr>
        <p:spPr>
          <a:xfrm>
            <a:off x="822960" y="4480560"/>
            <a:ext cx="10058400" cy="274320"/>
          </a:xfrm>
          <a:prstGeom prst="rect">
            <a:avLst/>
          </a:prstGeom>
          <a:noFill/>
          <a:ln/>
        </p:spPr>
        <p:txBody>
          <a:bodyPr wrap="square" lIns="0" tIns="0" rIns="0" bIns="0" rtlCol="0" anchor="ctr"/>
          <a:lstStyle/>
          <a:p>
            <a:pPr indent="0" marL="0">
              <a:buNone/>
            </a:pPr>
            <a:r>
              <a:rPr lang="en-US" sz="1100" b="1" spc="200" kern="0" dirty="0">
                <a:solidFill>
                  <a:srgbClr val="F96167"/>
                </a:solidFill>
                <a:latin typeface="Calibri" pitchFamily="34" charset="0"/>
                <a:ea typeface="Calibri" pitchFamily="34" charset="-122"/>
                <a:cs typeface="Calibri" pitchFamily="34" charset="-120"/>
              </a:rPr>
              <a:t>Question 3</a:t>
            </a:r>
            <a:endParaRPr lang="en-US" sz="1100" dirty="0"/>
          </a:p>
        </p:txBody>
      </p:sp>
      <p:sp>
        <p:nvSpPr>
          <p:cNvPr id="12" name="Text 10"/>
          <p:cNvSpPr/>
          <p:nvPr/>
        </p:nvSpPr>
        <p:spPr>
          <a:xfrm>
            <a:off x="822960" y="4754880"/>
            <a:ext cx="10789920" cy="548640"/>
          </a:xfrm>
          <a:prstGeom prst="rect">
            <a:avLst/>
          </a:prstGeom>
          <a:noFill/>
          <a:ln/>
        </p:spPr>
        <p:txBody>
          <a:bodyPr wrap="square" lIns="0" tIns="0" rIns="0" bIns="0" rtlCol="0" anchor="ctr"/>
          <a:lstStyle/>
          <a:p>
            <a:pPr indent="0" marL="0">
              <a:buNone/>
            </a:pPr>
            <a:r>
              <a:rPr lang="en-US" sz="1800" i="1" dirty="0">
                <a:solidFill>
                  <a:srgbClr val="1A1A1A"/>
                </a:solidFill>
                <a:latin typeface="Georgia" pitchFamily="34" charset="0"/>
                <a:ea typeface="Georgia" pitchFamily="34" charset="-122"/>
                <a:cs typeface="Georgia" pitchFamily="34" charset="-120"/>
              </a:rPr>
              <a:t>72% of US teens have used an AI companion. What would you want to know before you trusted one?</a:t>
            </a:r>
            <a:endParaRPr lang="en-US" sz="1800" dirty="0"/>
          </a:p>
        </p:txBody>
      </p:sp>
      <p:sp>
        <p:nvSpPr>
          <p:cNvPr id="13" name="Text 11"/>
          <p:cNvSpPr/>
          <p:nvPr/>
        </p:nvSpPr>
        <p:spPr>
          <a:xfrm>
            <a:off x="548640" y="5943600"/>
            <a:ext cx="1097280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Feeds into your 'My Responsibility in the Digital Age' essay.</a:t>
            </a:r>
            <a:endParaRPr lang="en-US" sz="1300" dirty="0"/>
          </a:p>
        </p:txBody>
      </p:sp>
      <p:sp>
        <p:nvSpPr>
          <p:cNvPr id="14" name="Text 12"/>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dirty="0">
                <a:solidFill>
                  <a:srgbClr val="8A8EA8"/>
                </a:solidFill>
                <a:latin typeface="Calibri" pitchFamily="34" charset="0"/>
                <a:ea typeface="Calibri" pitchFamily="34" charset="-122"/>
                <a:cs typeface="Calibri" pitchFamily="34" charset="-120"/>
              </a:rPr>
              <a:t>Where you land</a:t>
            </a:r>
            <a:endParaRPr lang="en-US" sz="1000" dirty="0"/>
          </a:p>
        </p:txBody>
      </p:sp>
      <p:sp>
        <p:nvSpPr>
          <p:cNvPr id="15" name="Text 13"/>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A8EA8"/>
                </a:solidFill>
                <a:latin typeface="Calibri" pitchFamily="34" charset="0"/>
                <a:ea typeface="Calibri" pitchFamily="34" charset="-122"/>
                <a:cs typeface="Calibri" pitchFamily="34" charset="-120"/>
              </a:rPr>
              <a:t>13 / 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Replika Apocalypse</dc:title>
  <dc:subject>PptxGenJS Presentation</dc:subject>
  <dc:creator>Haileybury AEP</dc:creator>
  <cp:lastModifiedBy>Haileybury AEP</cp:lastModifiedBy>
  <cp:revision>1</cp:revision>
  <dcterms:created xsi:type="dcterms:W3CDTF">2026-05-11T16:27:17Z</dcterms:created>
  <dcterms:modified xsi:type="dcterms:W3CDTF">2026-05-11T16:27:17Z</dcterms:modified>
</cp:coreProperties>
</file>